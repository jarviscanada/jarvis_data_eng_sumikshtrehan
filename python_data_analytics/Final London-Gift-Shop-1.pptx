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7" r:id="rId7"/>
    <p:sldId id="266" r:id="rId8"/>
    <p:sldId id="268" r:id="rId9"/>
    <p:sldId id="265" r:id="rId10"/>
    <p:sldId id="263" r:id="rId11"/>
    <p:sldId id="260" r:id="rId12"/>
    <p:sldId id="262" r:id="rId13"/>
    <p:sldId id="264" r:id="rId14"/>
  </p:sldIdLst>
  <p:sldSz cx="18288000" cy="10287000"/>
  <p:notesSz cx="6858000" cy="9144000"/>
  <p:embeddedFontLst>
    <p:embeddedFont>
      <p:font typeface="Aptos ExtraBold" panose="020B0004020202020204" pitchFamily="34" charset="0"/>
      <p:bold r:id="rId16"/>
      <p:boldItalic r:id="rId17"/>
    </p:embeddedFont>
    <p:embeddedFont>
      <p:font typeface="Arimo Bold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Open Sans Bold" panose="020B0806030504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1921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LGS must transition from generic tactics to a </a:t>
            </a:r>
            <a:r>
              <a:rPr lang="en-US" sz="1200" b="1" dirty="0">
                <a:solidFill>
                  <a:srgbClr val="333F70"/>
                </a:solidFill>
                <a:ea typeface="Open Sans Bold"/>
                <a:cs typeface="Open Sans Bold"/>
                <a:sym typeface="Open Sans Bold"/>
              </a:rPr>
              <a:t>tiered VIP strategy</a:t>
            </a:r>
            <a:r>
              <a:rPr lang="en-US" sz="1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; the current "one-size-fits-all" approach wastes marketing budget on low-value segments.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>
              <a:lnSpc>
                <a:spcPts val="1874"/>
              </a:lnSpc>
            </a:pPr>
            <a:r>
              <a:rPr lang="en-US" sz="20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For a decade, London Gift Shop has experienced stagnant revenue, largely due to marketing strategies based on "gut feeling" rather than data-driven evidence. This lack of insight has led to inefficiencies and missed opportunities.</a:t>
            </a:r>
          </a:p>
          <a:p>
            <a:pPr marL="325567" lvl="2" indent="-108522" algn="l">
              <a:lnSpc>
                <a:spcPts val="1874"/>
              </a:lnSpc>
              <a:buFont typeface="Arial"/>
              <a:buChar char="⚬"/>
            </a:pPr>
            <a:r>
              <a:rPr lang="en-US" sz="2000" b="1" dirty="0">
                <a:solidFill>
                  <a:srgbClr val="333F70"/>
                </a:solidFill>
                <a:ea typeface="Open Sans Bold"/>
                <a:cs typeface="Open Sans Bold"/>
                <a:sym typeface="Open Sans Bold"/>
              </a:rPr>
              <a:t>The Problem:</a:t>
            </a:r>
            <a:r>
              <a:rPr lang="en-US" sz="20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 Stagnant revenue despite a decade of operation. LGS relies on "gut feeling" marketing rather than data-driven evidence.</a:t>
            </a:r>
          </a:p>
          <a:p>
            <a:pPr marL="325567" lvl="2" indent="-108522" algn="l">
              <a:lnSpc>
                <a:spcPts val="1874"/>
              </a:lnSpc>
              <a:buFont typeface="Arial"/>
              <a:buChar char="⚬"/>
            </a:pPr>
            <a:r>
              <a:rPr lang="en-US" sz="2000" b="1" dirty="0">
                <a:solidFill>
                  <a:srgbClr val="333F70"/>
                </a:solidFill>
                <a:ea typeface="Open Sans Bold"/>
                <a:cs typeface="Open Sans Bold"/>
                <a:sym typeface="Open Sans Bold"/>
              </a:rPr>
              <a:t>The Gap:</a:t>
            </a:r>
            <a:r>
              <a:rPr lang="en-US" sz="20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 A total disconnect between the production cloud (Azure) and the marketing team's strategy.</a:t>
            </a:r>
          </a:p>
          <a:p>
            <a:pPr marL="325567" lvl="2" indent="-108522" algn="l">
              <a:lnSpc>
                <a:spcPts val="1874"/>
              </a:lnSpc>
              <a:buFont typeface="Arial"/>
              <a:buChar char="⚬"/>
            </a:pPr>
            <a:endParaRPr lang="en-US" sz="2000" dirty="0">
              <a:solidFill>
                <a:srgbClr val="333F70"/>
              </a:solidFill>
              <a:ea typeface="Open Sans"/>
              <a:cs typeface="Open Sans"/>
              <a:sym typeface="Open Sans"/>
            </a:endParaRPr>
          </a:p>
          <a:p>
            <a:pPr algn="l">
              <a:lnSpc>
                <a:spcPts val="1874"/>
              </a:lnSpc>
            </a:pPr>
            <a:r>
              <a:rPr lang="en-US" sz="22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Segment Customers</a:t>
            </a:r>
          </a:p>
          <a:p>
            <a:pPr algn="l">
              <a:lnSpc>
                <a:spcPts val="1874"/>
              </a:lnSpc>
            </a:pP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Define the value of every customer using RFM logic to understand their engagement and spend patterns.</a:t>
            </a:r>
          </a:p>
          <a:p>
            <a:pPr algn="l">
              <a:lnSpc>
                <a:spcPts val="1874"/>
              </a:lnSpc>
            </a:pPr>
            <a:endParaRPr lang="en-US" sz="2200" dirty="0">
              <a:solidFill>
                <a:srgbClr val="333F70"/>
              </a:solidFill>
              <a:ea typeface="Open Sans"/>
              <a:cs typeface="Open Sans"/>
              <a:sym typeface="Open Sans"/>
            </a:endParaRPr>
          </a:p>
          <a:p>
            <a:pPr algn="l">
              <a:lnSpc>
                <a:spcPts val="1874"/>
              </a:lnSpc>
            </a:pPr>
            <a:r>
              <a:rPr lang="en-US" sz="22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Recover Wholesalers</a:t>
            </a:r>
          </a:p>
          <a:p>
            <a:pPr algn="l">
              <a:lnSpc>
                <a:spcPts val="1874"/>
              </a:lnSpc>
            </a:pP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Identify and target "At-Risk" high-value wholesalers with precision </a:t>
            </a:r>
          </a:p>
          <a:p>
            <a:pPr algn="l">
              <a:lnSpc>
                <a:spcPts val="1874"/>
              </a:lnSpc>
            </a:pP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re-engagement campaigns.</a:t>
            </a:r>
          </a:p>
          <a:p>
            <a:pPr algn="l">
              <a:lnSpc>
                <a:spcPts val="1874"/>
              </a:lnSpc>
            </a:pPr>
            <a:endParaRPr lang="en-US" sz="2200" dirty="0">
              <a:solidFill>
                <a:srgbClr val="333F70"/>
              </a:solidFill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ts val="187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Inventory Management</a:t>
            </a:r>
            <a:br>
              <a:rPr lang="en-US" sz="2200" b="1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</a:b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Identify the sales pattern to stop running out of inventory.</a:t>
            </a:r>
          </a:p>
          <a:p>
            <a:pPr algn="l">
              <a:lnSpc>
                <a:spcPts val="1874"/>
              </a:lnSpc>
            </a:pPr>
            <a:endParaRPr lang="en-US" sz="2200" dirty="0">
              <a:solidFill>
                <a:srgbClr val="333F70"/>
              </a:solidFill>
              <a:ea typeface="Open Sans"/>
              <a:cs typeface="Open Sans"/>
              <a:sym typeface="Open Sans"/>
            </a:endParaRPr>
          </a:p>
          <a:p>
            <a:pPr algn="l">
              <a:lnSpc>
                <a:spcPts val="1874"/>
              </a:lnSpc>
            </a:pPr>
            <a:endParaRPr lang="en-US" sz="2200" dirty="0">
              <a:solidFill>
                <a:srgbClr val="333F70"/>
              </a:solidFill>
              <a:ea typeface="Open Sans"/>
              <a:cs typeface="Open Sans"/>
              <a:sym typeface="Open Sans"/>
            </a:endParaRPr>
          </a:p>
          <a:p>
            <a:pPr marL="217045" lvl="2" indent="0" algn="l">
              <a:lnSpc>
                <a:spcPts val="1874"/>
              </a:lnSpc>
              <a:buFont typeface="Arial"/>
              <a:buNone/>
            </a:pPr>
            <a:endParaRPr lang="en-US" sz="2000" dirty="0">
              <a:solidFill>
                <a:srgbClr val="333F70"/>
              </a:solidFill>
              <a:ea typeface="Open Sans"/>
              <a:cs typeface="Open Sans"/>
              <a:sym typeface="Open Sans"/>
            </a:endParaRPr>
          </a:p>
          <a:p>
            <a:pPr marL="325567" lvl="2" indent="-108522" algn="l">
              <a:lnSpc>
                <a:spcPts val="1874"/>
              </a:lnSpc>
            </a:pPr>
            <a:endParaRPr lang="en-US" sz="1800" dirty="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rgbClr val="333F70"/>
                </a:solidFill>
                <a:latin typeface="+mn-lt"/>
                <a:ea typeface="Arimo Bold"/>
                <a:cs typeface="Arimo Bold"/>
                <a:sym typeface="Arimo Bold"/>
              </a:rPr>
              <a:t>Data Quality Observations:</a:t>
            </a:r>
            <a:endParaRPr lang="en-US" sz="1200" dirty="0">
              <a:solidFill>
                <a:srgbClr val="333F70"/>
              </a:solidFill>
              <a:ea typeface="Open Sans"/>
              <a:cs typeface="Open Sans"/>
              <a:sym typeface="Arimo 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333F70"/>
                </a:solidFill>
                <a:ea typeface="Open Sans"/>
                <a:cs typeface="Open Sans"/>
                <a:sym typeface="Arimo Bold"/>
              </a:rPr>
              <a:t>Identified significant missing values in the Customer ID column, requiring exclusion to maintain the accuracy of the RFM model.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333F70"/>
                </a:solidFill>
                <a:ea typeface="Open Sans"/>
                <a:cs typeface="Open Sans"/>
                <a:sym typeface="Arimo Bold"/>
              </a:rPr>
              <a:t>Detected approximately 19,000 cancellations (Invoices prefixed with "C") and negative quantities, which would have falsely deflated revenue metrics if not isolated.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333F70"/>
              </a:solidFill>
              <a:ea typeface="Open Sans"/>
              <a:cs typeface="Open Sans"/>
              <a:sym typeface="Arimo Bold"/>
            </a:endParaRP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0" lvl="1">
              <a:lnSpc>
                <a:spcPts val="1874"/>
              </a:lnSpc>
            </a:pPr>
            <a:r>
              <a:rPr lang="en-US" sz="2400" b="1" dirty="0">
                <a:ea typeface="Arimo Bold"/>
                <a:cs typeface="Arimo Bold"/>
                <a:sym typeface="Arimo Bold"/>
              </a:rPr>
              <a:t>Data Quality Observations</a:t>
            </a:r>
          </a:p>
          <a:p>
            <a:pPr marL="0" lvl="1">
              <a:lnSpc>
                <a:spcPts val="1874"/>
              </a:lnSpc>
            </a:pPr>
            <a:endParaRPr lang="en-US" sz="20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Integrity Gaps: significant missing values in the Customer ID 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Operational Noise: Detected approximately 19,000 cancellations 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0" lvl="1">
              <a:lnSpc>
                <a:spcPts val="1874"/>
              </a:lnSpc>
            </a:pPr>
            <a:r>
              <a:rPr lang="en-US" sz="2400" b="1" dirty="0">
                <a:ea typeface="Arimo Bold"/>
                <a:cs typeface="Arimo Bold"/>
                <a:sym typeface="Arimo Bold"/>
              </a:rPr>
              <a:t>Data Transformations (The "Sanitization" Pipeline)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Executed Type Casting across numerical columns to ensure mathematical consistency for Monetary value aggregations.</a:t>
            </a: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Generated a derived Revenue column (Quantity × </a:t>
            </a:r>
            <a:r>
              <a:rPr lang="en-US" sz="2200" dirty="0" err="1">
                <a:ea typeface="Open Sans"/>
                <a:cs typeface="Open Sans"/>
                <a:sym typeface="Arimo Bold"/>
              </a:rPr>
              <a:t>UnitPrice</a:t>
            </a:r>
            <a:r>
              <a:rPr lang="en-US" sz="2200" dirty="0">
                <a:ea typeface="Open Sans"/>
                <a:cs typeface="Open Sans"/>
                <a:sym typeface="Arimo Bold"/>
              </a:rPr>
              <a:t>) to serve as the core metric for high-value customer identification.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333F70"/>
              </a:solidFill>
              <a:ea typeface="Open Sans"/>
              <a:cs typeface="Open Sans"/>
              <a:sym typeface="Arimo Bold"/>
            </a:endParaRP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l">
              <a:lnSpc>
                <a:spcPts val="2063"/>
              </a:lnSpc>
            </a:pPr>
            <a:r>
              <a:rPr lang="en-US" sz="2000" b="1" dirty="0">
                <a:ea typeface="Arimo Bold"/>
                <a:cs typeface="Arimo Bold"/>
                <a:sym typeface="Arimo Bold"/>
              </a:rPr>
              <a:t>The Profit Engine - 852 Champions</a:t>
            </a:r>
          </a:p>
          <a:p>
            <a:r>
              <a:rPr lang="en-US" sz="2000" b="1" dirty="0">
                <a:ea typeface="Arimo Bold"/>
                <a:cs typeface="Arimo Bold"/>
                <a:sym typeface="Arimo Bold"/>
              </a:rPr>
              <a:t>Finding (WHAT):</a:t>
            </a:r>
          </a:p>
          <a:p>
            <a:r>
              <a:rPr lang="en-US" sz="2000" dirty="0">
                <a:ea typeface="Arimo Bold"/>
                <a:cs typeface="Arimo Bold"/>
                <a:sym typeface="Arimo Bold"/>
              </a:rPr>
              <a:t>The core of London Gift Shop's profitability is driven by a small elite tier of "Champions" with a mean spend of £10,795.52 and remarkable engagement (purchasing every ~30 days).</a:t>
            </a:r>
          </a:p>
          <a:p>
            <a:r>
              <a:rPr lang="en-US" sz="2000" b="1" dirty="0">
                <a:ea typeface="Arimo Bold"/>
                <a:cs typeface="Arimo Bold"/>
                <a:sym typeface="Arimo Bold"/>
              </a:rPr>
              <a:t>Analytical Evidence (HOW):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Metric: Identified Champions as the highest-value segment with consistent, high-frequency purchases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Key Stat: 852 Champions represent the backbone of net profitability</a:t>
            </a:r>
          </a:p>
          <a:p>
            <a:pPr marL="64126" lvl="1"/>
            <a:r>
              <a:rPr lang="en-US" sz="2000" b="1" dirty="0">
                <a:ea typeface="Arimo Bold"/>
                <a:cs typeface="Arimo Bold"/>
                <a:sym typeface="Arimo Bold"/>
              </a:rPr>
              <a:t>Business Impact(WHY):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Revenue Growth: Protecting Champions through "White Glove Service" is crucial- 5% retention increase among Champions is more valuable than acquiring 1,000 new retail customers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Strategic Priority: These elite customers are the most stable revenue source</a:t>
            </a:r>
          </a:p>
          <a:p>
            <a:pPr marL="128251" lvl="1" indent="-64125">
              <a:buFont typeface="Arial"/>
              <a:buChar char="•"/>
            </a:pPr>
            <a:endParaRPr lang="en-US" sz="2000" dirty="0">
              <a:ea typeface="Arimo Bold"/>
              <a:cs typeface="Arimo Bold"/>
              <a:sym typeface="Arimo Bold"/>
            </a:endParaRPr>
          </a:p>
          <a:p>
            <a:r>
              <a:rPr lang="en-US" sz="2000" b="1" dirty="0">
                <a:ea typeface="Arimo Bold"/>
                <a:cs typeface="Arimo Bold"/>
                <a:sym typeface="Arimo Bold"/>
              </a:rPr>
              <a:t>The Churn Risk - 71 "Can't Lose" Whales</a:t>
            </a:r>
          </a:p>
          <a:p>
            <a:r>
              <a:rPr lang="en-US" sz="2000" b="1" dirty="0">
                <a:ea typeface="Arimo Bold"/>
                <a:cs typeface="Arimo Bold"/>
                <a:sym typeface="Arimo Bold"/>
              </a:rPr>
              <a:t>Finding (WHAT):</a:t>
            </a:r>
          </a:p>
          <a:p>
            <a:r>
              <a:rPr lang="en-US" sz="2000" dirty="0">
                <a:ea typeface="Arimo Bold"/>
                <a:cs typeface="Arimo Bold"/>
                <a:sym typeface="Arimo Bold"/>
              </a:rPr>
              <a:t>A critical revenue leak: 71 high-value "Can't Lose" customers have historically shopped ~16 times with an average spend of £8,355.68 each but have been silent for 352.8 days - representing over £590,000 in latent lifetime value at risk.</a:t>
            </a:r>
          </a:p>
          <a:p>
            <a:r>
              <a:rPr lang="en-US" sz="2000" b="1" dirty="0">
                <a:ea typeface="Arimo Bold"/>
                <a:cs typeface="Arimo Bold"/>
                <a:sym typeface="Arimo Bold"/>
              </a:rPr>
              <a:t>Analytical Evidence (HOW):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Method: Combined RFM Scoring with Outlier Analysis on the 1.06M row dataset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Metric: Identified the delta between active Champions and dormant high-value accounts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Key Stat: High monetary value combined with significantly low recency scores (352.8 days) indicates strong likelihood of churn</a:t>
            </a:r>
          </a:p>
          <a:p>
            <a:r>
              <a:rPr lang="en-US" sz="2000" b="1" dirty="0">
                <a:ea typeface="Arimo Bold"/>
                <a:cs typeface="Arimo Bold"/>
                <a:sym typeface="Arimo Bold"/>
              </a:rPr>
              <a:t>Business Impact (WHY):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Revenue Recovery: An immediate "Win-Back" campaign targeting these 71 accounts is the fastest way to recover £590,000+ in latent capital without the high cost of new customer acquisition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Cost Reduction: Reactivating existing high-value customers is exponentially cheaper than acquisition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4126" lvl="1"/>
            <a:endParaRPr lang="en-US" sz="2100" dirty="0">
              <a:ea typeface="Arimo Bold"/>
              <a:cs typeface="Arimo Bold"/>
              <a:sym typeface="Arimo Bold"/>
            </a:endParaRPr>
          </a:p>
          <a:p>
            <a:r>
              <a:rPr lang="en-US" sz="2400" b="1" dirty="0">
                <a:ea typeface="Arimo Bold"/>
                <a:cs typeface="Arimo Bold"/>
                <a:sym typeface="Arimo Bold"/>
              </a:rPr>
              <a:t>The Churn Risk - 71 "Can't Lose" Whales</a:t>
            </a:r>
          </a:p>
          <a:p>
            <a:endParaRPr lang="en-US" sz="2400" b="1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Finding (WHAT):</a:t>
            </a:r>
          </a:p>
          <a:p>
            <a:r>
              <a:rPr lang="en-US" sz="2200" dirty="0">
                <a:ea typeface="Arimo Bold"/>
                <a:cs typeface="Arimo Bold"/>
                <a:sym typeface="Arimo Bold"/>
              </a:rPr>
              <a:t>A critical revenue leak: 71 high-value "Can't Lose" customers have historically shopped ~16 times with an average spend of £8,355.68 each but have been silent for 352.8 days</a:t>
            </a:r>
          </a:p>
          <a:p>
            <a:endParaRPr lang="en-US" sz="2200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Analytical Evidence (HOW):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Arimo Bold"/>
                <a:cs typeface="Arimo Bold"/>
                <a:sym typeface="Arimo Bold"/>
              </a:rPr>
              <a:t>Key Stat: High monetary value combined with significantly low recency scores (352.8 days) indicates strong likelihood of churn</a:t>
            </a:r>
          </a:p>
          <a:p>
            <a:pPr marL="64126" lvl="1"/>
            <a:endParaRPr lang="en-US" sz="2200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Business Impact (WHY):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Arimo Bold"/>
                <a:cs typeface="Arimo Bold"/>
                <a:sym typeface="Arimo Bold"/>
              </a:rPr>
              <a:t>Revenue Recovery: "Win-Back" campaign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462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sym typeface="Arimo Bold"/>
              </a:rPr>
              <a:t>Seasonal Volatility &amp; The Retention Economics Gap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sym typeface="Arimo Bold"/>
              </a:rPr>
              <a:t>Finding (WHAT):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Arimo Bold"/>
              </a:rPr>
              <a:t>LGS experiences extreme Q4 revenue surges (peaking in November with nearly 300% increase compared to mid-year average)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sym typeface="Arimo Bold"/>
              </a:rPr>
              <a:t>Analytical Evidence (HOW):</a:t>
            </a:r>
          </a:p>
          <a:p>
            <a:pPr marL="128251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Arimo Bold"/>
              </a:rPr>
              <a:t>Metric: Compared November peak against the low Frequency mean (1.0) of the current "New Customer" cohort</a:t>
            </a:r>
          </a:p>
          <a:p>
            <a:pPr marL="128251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Arimo Bold"/>
              </a:rPr>
              <a:t>Key Stat: While Monthly Active Users (MAU) is healthy. "New Customers" drift toward "Hibernating" status instead of becoming loyal</a:t>
            </a:r>
          </a:p>
          <a:p>
            <a:pPr marL="0" lvl="1"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sym typeface="Arimo Bold"/>
              </a:rPr>
              <a:t>Business Impact (WHY):</a:t>
            </a:r>
          </a:p>
          <a:p>
            <a:pPr marL="128251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Arimo Bold"/>
              </a:rPr>
              <a:t>Cost Reduction: Improved forecast accuracy based on Q4 spikes</a:t>
            </a:r>
          </a:p>
          <a:p>
            <a:pPr marL="128251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Arimo Bold"/>
              </a:rPr>
              <a:t>Marketing Efficiency: Pivoting to a Retention-First strategy - "Welcome Journeys"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5418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2000" dirty="0">
                <a:ea typeface="Arimo Bold"/>
                <a:cs typeface="Arimo Bold"/>
                <a:sym typeface="Arimo Bold"/>
              </a:rPr>
              <a:t>This project has transformed over 1 million rows of raw noise into a 10-tier revenue roadmap. We are no longer guessing; we are engineering growth.</a:t>
            </a:r>
          </a:p>
          <a:p>
            <a:endParaRPr lang="en-US" sz="2000" dirty="0">
              <a:ea typeface="Arimo Bold"/>
              <a:cs typeface="Arimo Bold"/>
              <a:sym typeface="Arimo Bold"/>
            </a:endParaRPr>
          </a:p>
          <a:p>
            <a:r>
              <a:rPr lang="en-US" sz="2000" dirty="0">
                <a:ea typeface="Arimo Bold"/>
                <a:cs typeface="Arimo Bold"/>
                <a:sym typeface="Arimo Bold"/>
              </a:rPr>
              <a:t>A. Customer Strategy: Value-Based Retention</a:t>
            </a:r>
          </a:p>
          <a:p>
            <a:pPr marL="349876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Tiered VIP Engagement: Establish a "White Glove" program for the 852 Champions (Mean Spend: £10,795.52) to protect the core revenue engine. Target a 5–10% increase in LTV for the top tier.</a:t>
            </a:r>
          </a:p>
          <a:p>
            <a:pPr marL="349876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High-Value Churn Recovery: Launch immediate "Win-Back" campaigns for the 71 "Can't Lose" customers to recover their £8,355.68 latent value. </a:t>
            </a:r>
          </a:p>
          <a:p>
            <a:pPr marL="349876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Retention Onboarding: Implement automated "Welcome Journeys" for New Customers (Mean Frequency: 1.0) to secure the critical second purchase. Target 10–18% improvement in transition rates from New to Loyal.</a:t>
            </a:r>
          </a:p>
          <a:p>
            <a:pPr marL="128251" lvl="1" indent="-64125">
              <a:buFont typeface="Arial"/>
              <a:buChar char="•"/>
            </a:pPr>
            <a:endParaRPr lang="en-US" sz="2000" dirty="0">
              <a:ea typeface="Arimo Bold"/>
              <a:cs typeface="Arimo Bold"/>
              <a:sym typeface="Arimo Bold"/>
            </a:endParaRPr>
          </a:p>
          <a:p>
            <a:r>
              <a:rPr lang="en-US" sz="2000" dirty="0">
                <a:ea typeface="Arimo Bold"/>
                <a:cs typeface="Arimo Bold"/>
                <a:sym typeface="Arimo Bold"/>
              </a:rPr>
              <a:t>B. Product Strategy: Inventory &amp; Bundle Optimization</a:t>
            </a:r>
          </a:p>
          <a:p>
            <a:pPr marL="349876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Extreme Seasonal Pre-Loading: Front-load 70% of holiday inventory by August/September to prepare for the November revenue surge. Target 20% reduction in stockouts during peak Q4 sales.</a:t>
            </a:r>
          </a:p>
          <a:p>
            <a:pPr marL="349876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Arimo Bold"/>
                <a:cs typeface="Arimo Bold"/>
                <a:sym typeface="Arimo Bold"/>
              </a:rPr>
              <a:t>High-Velocity Bundling: Create "Wholesale Bundles" for top-performing SKUs to increase Average Order Value (AOV) for Potential Loyalists.</a:t>
            </a:r>
          </a:p>
          <a:p>
            <a:endParaRPr lang="en-US" dirty="0">
              <a:ea typeface="Arimo Bold"/>
              <a:cs typeface="Arimo Bold"/>
              <a:sym typeface="Arimo Bold"/>
            </a:endParaRP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6999" y="1799730"/>
            <a:ext cx="9081402" cy="1736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 dirty="0">
                <a:latin typeface="+mj-lt"/>
                <a:ea typeface="Arimo Bold"/>
                <a:cs typeface="Arimo Bold"/>
                <a:sym typeface="Arimo Bold"/>
              </a:rPr>
              <a:t>Data-Driven Growth: Bridging the Gap for London Gift 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9" y="5702198"/>
            <a:ext cx="8746122" cy="2734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400" dirty="0">
                <a:latin typeface="Open Sans"/>
                <a:ea typeface="Open Sans"/>
                <a:cs typeface="Open Sans"/>
                <a:sym typeface="Open Sans"/>
              </a:rPr>
              <a:t>An Analytical Proof of Concept (PoC) for Precision Marketing &amp; Revenue Recovery</a:t>
            </a:r>
          </a:p>
          <a:p>
            <a:pPr algn="l">
              <a:lnSpc>
                <a:spcPts val="3561"/>
              </a:lnSpc>
            </a:pPr>
            <a:endParaRPr lang="en-US" sz="2400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561"/>
              </a:lnSpc>
            </a:pPr>
            <a:r>
              <a:rPr lang="en-US" sz="2400" dirty="0">
                <a:latin typeface="Open Sans"/>
                <a:ea typeface="Open Sans"/>
                <a:cs typeface="Open Sans"/>
                <a:sym typeface="Open Sans"/>
              </a:rPr>
              <a:t>Presented by: </a:t>
            </a:r>
            <a:r>
              <a:rPr lang="en-US" sz="2400" b="1" dirty="0">
                <a:latin typeface="Open Sans Bold"/>
                <a:ea typeface="Open Sans Bold"/>
                <a:cs typeface="Open Sans Bold"/>
                <a:sym typeface="Open Sans Bold"/>
              </a:rPr>
              <a:t>Sumiksh Trehan</a:t>
            </a:r>
            <a:r>
              <a:rPr lang="en-US" sz="2400" dirty="0">
                <a:latin typeface="Open Sans"/>
                <a:ea typeface="Open Sans"/>
                <a:cs typeface="Open Sans"/>
                <a:sym typeface="Open Sans"/>
              </a:rPr>
              <a:t>, Data Engineer, Jarvis Consulting</a:t>
            </a:r>
          </a:p>
          <a:p>
            <a:pPr algn="l">
              <a:lnSpc>
                <a:spcPts val="3561"/>
              </a:lnSpc>
            </a:pPr>
            <a:endParaRPr lang="en-US" sz="2400" dirty="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D16AE9-01B2-8D7A-1733-B75113484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6700"/>
            <a:ext cx="1600200" cy="65271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4FEFADF-98F4-2791-2021-CC538F2ED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5249" y="228600"/>
            <a:ext cx="7935862" cy="9829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24767" y="1500521"/>
            <a:ext cx="14789496" cy="67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000" b="1" dirty="0">
                <a:latin typeface="+mj-lt"/>
                <a:ea typeface="Arimo Bold"/>
                <a:cs typeface="Arimo Bold"/>
                <a:sym typeface="Arimo Bold"/>
              </a:rPr>
              <a:t>Precision Marketing for Stagnant Growth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6973" y="3006428"/>
            <a:ext cx="16303523" cy="133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200" dirty="0">
                <a:ea typeface="Open Sans"/>
                <a:cs typeface="Open Sans"/>
                <a:sym typeface="Open Sans"/>
              </a:rPr>
              <a:t>Engineered a containerized Docker/PostgreSQL ETL pipeline to sanitize</a:t>
            </a:r>
            <a:r>
              <a:rPr lang="en-US" sz="2200" b="1" dirty="0">
                <a:ea typeface="Open Sans Bold"/>
                <a:cs typeface="Open Sans Bold"/>
                <a:sym typeface="Open Sans Bold"/>
              </a:rPr>
              <a:t> 1 million (1,067,371) transaction rows.</a:t>
            </a:r>
            <a:r>
              <a:rPr lang="en-US" sz="2200" dirty="0">
                <a:ea typeface="Open Sans"/>
                <a:cs typeface="Open Sans"/>
                <a:sym typeface="Open Sans"/>
              </a:rPr>
              <a:t> Processed a comprehensive two-year dataset spanning from </a:t>
            </a:r>
            <a:r>
              <a:rPr lang="en-US" sz="2200" b="1" dirty="0">
                <a:ea typeface="Open Sans Bold"/>
                <a:cs typeface="Open Sans Bold"/>
                <a:sym typeface="Open Sans Bold"/>
              </a:rPr>
              <a:t>December 1, 2009, to December 9, 2011</a:t>
            </a:r>
            <a:r>
              <a:rPr lang="en-US" sz="2200" dirty="0">
                <a:ea typeface="Open Sans"/>
                <a:cs typeface="Open Sans"/>
                <a:sym typeface="Open Sans"/>
              </a:rPr>
              <a:t>, neutralizing skewed data and negative quantities to ensure a high-fidelity analytical foundation.</a:t>
            </a:r>
          </a:p>
        </p:txBody>
      </p:sp>
      <p:sp>
        <p:nvSpPr>
          <p:cNvPr id="11" name="Freeform 11"/>
          <p:cNvSpPr/>
          <p:nvPr/>
        </p:nvSpPr>
        <p:spPr>
          <a:xfrm>
            <a:off x="987476" y="5588641"/>
            <a:ext cx="8019479" cy="2569559"/>
          </a:xfrm>
          <a:custGeom>
            <a:avLst/>
            <a:gdLst/>
            <a:ahLst/>
            <a:cxnLst/>
            <a:rect l="l" t="t" r="r" b="b"/>
            <a:pathLst>
              <a:path w="8019479" h="2569559">
                <a:moveTo>
                  <a:pt x="0" y="0"/>
                </a:moveTo>
                <a:lnTo>
                  <a:pt x="8019478" y="0"/>
                </a:lnTo>
                <a:lnTo>
                  <a:pt x="8019478" y="2569560"/>
                </a:lnTo>
                <a:lnTo>
                  <a:pt x="0" y="2569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1285284" y="5810250"/>
            <a:ext cx="354404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000" b="1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Core Finding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284" y="6328019"/>
            <a:ext cx="7423842" cy="1344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561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 Bold"/>
              </a:rPr>
              <a:t>852 "Champions"</a:t>
            </a: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 drive LGS profit</a:t>
            </a:r>
          </a:p>
          <a:p>
            <a:pPr marL="342900" indent="-342900">
              <a:lnSpc>
                <a:spcPts val="3561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 Bold"/>
              </a:rPr>
              <a:t>71 high-value "Whales"</a:t>
            </a: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 are at immediate churn risk, indicating a critical revenue leak.</a:t>
            </a:r>
          </a:p>
        </p:txBody>
      </p:sp>
      <p:sp>
        <p:nvSpPr>
          <p:cNvPr id="14" name="Freeform 14"/>
          <p:cNvSpPr/>
          <p:nvPr/>
        </p:nvSpPr>
        <p:spPr>
          <a:xfrm>
            <a:off x="9280922" y="5588641"/>
            <a:ext cx="8019574" cy="2569559"/>
          </a:xfrm>
          <a:custGeom>
            <a:avLst/>
            <a:gdLst/>
            <a:ahLst/>
            <a:cxnLst/>
            <a:rect l="l" t="t" r="r" b="b"/>
            <a:pathLst>
              <a:path w="8019574" h="2569559">
                <a:moveTo>
                  <a:pt x="0" y="0"/>
                </a:moveTo>
                <a:lnTo>
                  <a:pt x="8019574" y="0"/>
                </a:lnTo>
                <a:lnTo>
                  <a:pt x="8019574" y="2569560"/>
                </a:lnTo>
                <a:lnTo>
                  <a:pt x="0" y="2569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TextBox 15"/>
          <p:cNvSpPr txBox="1"/>
          <p:nvPr/>
        </p:nvSpPr>
        <p:spPr>
          <a:xfrm>
            <a:off x="9578731" y="5810250"/>
            <a:ext cx="354404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000" b="1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Strategic Pivot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78731" y="6328019"/>
            <a:ext cx="7423995" cy="88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1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F70"/>
                </a:solidFill>
                <a:ea typeface="Open Sans"/>
                <a:cs typeface="Open Sans"/>
                <a:sym typeface="Open Sans"/>
              </a:rPr>
              <a:t>LGS must transition from generic tactics to a </a:t>
            </a:r>
            <a:r>
              <a:rPr lang="en-US" sz="2200" b="1" dirty="0">
                <a:solidFill>
                  <a:srgbClr val="333F70"/>
                </a:solidFill>
                <a:ea typeface="Open Sans Bold"/>
                <a:cs typeface="Open Sans Bold"/>
                <a:sym typeface="Open Sans Bold"/>
              </a:rPr>
              <a:t>tiered VIP strategy</a:t>
            </a:r>
            <a:endParaRPr lang="en-US" sz="2200" dirty="0">
              <a:solidFill>
                <a:srgbClr val="333F70"/>
              </a:solidFill>
              <a:ea typeface="Open Sans"/>
              <a:cs typeface="Open Sans"/>
              <a:sym typeface="Open Sans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D8C22DB-49CB-9F0C-E9BF-5458BDDFAA0B}"/>
              </a:ext>
            </a:extLst>
          </p:cNvPr>
          <p:cNvSpPr/>
          <p:nvPr/>
        </p:nvSpPr>
        <p:spPr>
          <a:xfrm>
            <a:off x="228600" y="201792"/>
            <a:ext cx="2362200" cy="329962"/>
          </a:xfrm>
          <a:custGeom>
            <a:avLst/>
            <a:gdLst/>
            <a:ahLst/>
            <a:cxnLst/>
            <a:rect l="l" t="t" r="r" b="b"/>
            <a:pathLst>
              <a:path w="1639697" h="294513">
                <a:moveTo>
                  <a:pt x="0" y="63500"/>
                </a:moveTo>
                <a:cubicBezTo>
                  <a:pt x="0" y="28448"/>
                  <a:pt x="28448" y="0"/>
                  <a:pt x="63500" y="0"/>
                </a:cubicBezTo>
                <a:lnTo>
                  <a:pt x="1576197" y="0"/>
                </a:lnTo>
                <a:cubicBezTo>
                  <a:pt x="1611249" y="0"/>
                  <a:pt x="1639697" y="28448"/>
                  <a:pt x="1639697" y="63500"/>
                </a:cubicBezTo>
                <a:lnTo>
                  <a:pt x="1639697" y="231013"/>
                </a:lnTo>
                <a:cubicBezTo>
                  <a:pt x="1639697" y="266065"/>
                  <a:pt x="1611249" y="294513"/>
                  <a:pt x="1576197" y="294513"/>
                </a:cubicBezTo>
                <a:lnTo>
                  <a:pt x="63500" y="294513"/>
                </a:lnTo>
                <a:cubicBezTo>
                  <a:pt x="28448" y="294513"/>
                  <a:pt x="0" y="266065"/>
                  <a:pt x="0" y="231013"/>
                </a:cubicBezTo>
                <a:close/>
              </a:path>
            </a:pathLst>
          </a:custGeom>
          <a:solidFill>
            <a:srgbClr val="D6F5EE"/>
          </a:solidFill>
        </p:spPr>
        <p:txBody>
          <a:bodyPr/>
          <a:lstStyle/>
          <a:p>
            <a:r>
              <a:rPr lang="en-CA" dirty="0"/>
              <a:t> 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66800" y="1318070"/>
            <a:ext cx="13930836" cy="48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4000" b="1" dirty="0">
                <a:latin typeface="+mj-lt"/>
                <a:ea typeface="Arimo Bold"/>
                <a:cs typeface="Arimo Bold"/>
                <a:sym typeface="Arimo Bold"/>
              </a:rPr>
              <a:t>Addressing the Problem: Stagnant Revenue &amp; Data Gaps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" y="2019814"/>
            <a:ext cx="5827166" cy="317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2200" dirty="0">
                <a:ea typeface="Open Sans"/>
                <a:cs typeface="Open Sans"/>
                <a:sym typeface="Open Sans"/>
              </a:rPr>
              <a:t>For a decade, London Gift Shop has experienced stagnant revenue.</a:t>
            </a:r>
          </a:p>
          <a:p>
            <a:pPr algn="l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Open Sans"/>
            </a:endParaRPr>
          </a:p>
          <a:p>
            <a:pPr algn="l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Open Sans"/>
            </a:endParaRPr>
          </a:p>
          <a:p>
            <a:pPr algn="l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Open Sans"/>
            </a:endParaRPr>
          </a:p>
          <a:p>
            <a:pPr marL="217045" lvl="2" algn="l">
              <a:lnSpc>
                <a:spcPts val="1874"/>
              </a:lnSpc>
            </a:pPr>
            <a:r>
              <a:rPr lang="en-US" sz="2200" b="1" dirty="0">
                <a:ea typeface="Open Sans Bold"/>
                <a:cs typeface="Open Sans Bold"/>
                <a:sym typeface="Open Sans Bold"/>
              </a:rPr>
              <a:t>The Problem:</a:t>
            </a:r>
            <a:r>
              <a:rPr lang="en-US" sz="2200" dirty="0">
                <a:ea typeface="Open Sans"/>
                <a:cs typeface="Open Sans"/>
                <a:sym typeface="Open Sans"/>
              </a:rPr>
              <a:t> Stagnant revenue despite a decade of operation. LGS relies on "gut feeling" marketing rather than data-driven evidence.</a:t>
            </a:r>
          </a:p>
          <a:p>
            <a:pPr marL="217045" lvl="2" algn="l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Open Sans"/>
            </a:endParaRPr>
          </a:p>
          <a:p>
            <a:pPr marL="325567" lvl="2" indent="-108522" algn="l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Open Sans"/>
            </a:endParaRPr>
          </a:p>
          <a:p>
            <a:pPr marL="217045" lvl="2" algn="l">
              <a:lnSpc>
                <a:spcPts val="1874"/>
              </a:lnSpc>
            </a:pPr>
            <a:r>
              <a:rPr lang="en-US" sz="2200" b="1" dirty="0">
                <a:ea typeface="Open Sans Bold"/>
                <a:cs typeface="Open Sans Bold"/>
                <a:sym typeface="Open Sans Bold"/>
              </a:rPr>
              <a:t>The Gap:</a:t>
            </a:r>
            <a:r>
              <a:rPr lang="en-US" sz="2200" dirty="0">
                <a:ea typeface="Open Sans"/>
                <a:cs typeface="Open Sans"/>
                <a:sym typeface="Open Sans"/>
              </a:rPr>
              <a:t> A total disconnect between the analytics and the marketing team's strategy.</a:t>
            </a:r>
          </a:p>
          <a:p>
            <a:pPr marL="325567" lvl="2" indent="-108522" algn="l">
              <a:lnSpc>
                <a:spcPts val="1874"/>
              </a:lnSpc>
            </a:pPr>
            <a:endParaRPr lang="en-US" sz="2200" dirty="0">
              <a:solidFill>
                <a:srgbClr val="333F7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66800" y="7331593"/>
            <a:ext cx="7647384" cy="35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799" b="1" dirty="0">
                <a:latin typeface="+mj-lt"/>
                <a:ea typeface="Arimo Bold"/>
                <a:cs typeface="Arimo Bold"/>
                <a:sym typeface="Arimo Bold"/>
              </a:rPr>
              <a:t>Measurable Goals for Data-Driven Solutions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8517" y="8267471"/>
            <a:ext cx="4167635" cy="2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2200" b="1" dirty="0">
                <a:ea typeface="Arimo Bold"/>
                <a:cs typeface="Arimo Bold"/>
                <a:sym typeface="Arimo Bold"/>
              </a:rPr>
              <a:t>Segment Customers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948401" y="7928553"/>
            <a:ext cx="4167664" cy="19050"/>
            <a:chOff x="0" y="0"/>
            <a:chExt cx="5556885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56885" cy="25400"/>
            </a:xfrm>
            <a:custGeom>
              <a:avLst/>
              <a:gdLst/>
              <a:ahLst/>
              <a:cxnLst/>
              <a:rect l="l" t="t" r="r" b="b"/>
              <a:pathLst>
                <a:path w="5556885" h="25400">
                  <a:moveTo>
                    <a:pt x="0" y="0"/>
                  </a:moveTo>
                  <a:lnTo>
                    <a:pt x="5556885" y="0"/>
                  </a:lnTo>
                  <a:lnTo>
                    <a:pt x="555688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948430" y="8274268"/>
            <a:ext cx="4167635" cy="2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2200" b="1" dirty="0">
                <a:ea typeface="Arimo Bold"/>
                <a:cs typeface="Arimo Bold"/>
                <a:sym typeface="Arimo Bold"/>
              </a:rPr>
              <a:t>Recover Wholesalers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47980" y="8274268"/>
            <a:ext cx="4167778" cy="2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2200" b="1" dirty="0">
                <a:ea typeface="Open Sans"/>
                <a:cs typeface="Open Sans"/>
                <a:sym typeface="Open Sans"/>
              </a:rPr>
              <a:t>Inventory Management</a:t>
            </a:r>
            <a:endParaRPr lang="en-US" sz="2200" dirty="0">
              <a:ea typeface="Open Sans"/>
              <a:cs typeface="Open Sans"/>
              <a:sym typeface="Open San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1049B5F-1773-D13F-9B9E-04B384294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221" y="2561433"/>
            <a:ext cx="7138510" cy="4417478"/>
          </a:xfrm>
          <a:prstGeom prst="rect">
            <a:avLst/>
          </a:prstGeom>
        </p:spPr>
      </p:pic>
      <p:grpSp>
        <p:nvGrpSpPr>
          <p:cNvPr id="27" name="Group 15">
            <a:extLst>
              <a:ext uri="{FF2B5EF4-FFF2-40B4-BE49-F238E27FC236}">
                <a16:creationId xmlns:a16="http://schemas.microsoft.com/office/drawing/2014/main" id="{393CB0FA-201D-BA33-97B0-053EFC5CDDE8}"/>
              </a:ext>
            </a:extLst>
          </p:cNvPr>
          <p:cNvGrpSpPr/>
          <p:nvPr/>
        </p:nvGrpSpPr>
        <p:grpSpPr>
          <a:xfrm>
            <a:off x="11332740" y="7928553"/>
            <a:ext cx="4167664" cy="19050"/>
            <a:chOff x="6996238" y="-203200"/>
            <a:chExt cx="5556885" cy="25400"/>
          </a:xfrm>
        </p:grpSpPr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782606DE-9BAC-1DA8-0FFD-036C61CA1D3A}"/>
                </a:ext>
              </a:extLst>
            </p:cNvPr>
            <p:cNvSpPr/>
            <p:nvPr/>
          </p:nvSpPr>
          <p:spPr>
            <a:xfrm>
              <a:off x="6996238" y="-203200"/>
              <a:ext cx="5556885" cy="25400"/>
            </a:xfrm>
            <a:custGeom>
              <a:avLst/>
              <a:gdLst/>
              <a:ahLst/>
              <a:cxnLst/>
              <a:rect l="l" t="t" r="r" b="b"/>
              <a:pathLst>
                <a:path w="5556885" h="25400">
                  <a:moveTo>
                    <a:pt x="0" y="0"/>
                  </a:moveTo>
                  <a:lnTo>
                    <a:pt x="5556885" y="0"/>
                  </a:lnTo>
                  <a:lnTo>
                    <a:pt x="555688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  <p:txBody>
            <a:bodyPr/>
            <a:lstStyle/>
            <a:p>
              <a:endParaRPr lang="en-CA" dirty="0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E856D83F-43CB-4591-A797-DAA3016ED99F}"/>
              </a:ext>
            </a:extLst>
          </p:cNvPr>
          <p:cNvGrpSpPr/>
          <p:nvPr/>
        </p:nvGrpSpPr>
        <p:grpSpPr>
          <a:xfrm>
            <a:off x="1116544" y="7919028"/>
            <a:ext cx="4167664" cy="19050"/>
            <a:chOff x="0" y="0"/>
            <a:chExt cx="5556885" cy="25400"/>
          </a:xfrm>
        </p:grpSpPr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8631821F-8563-75DD-B214-43076CA70A7C}"/>
                </a:ext>
              </a:extLst>
            </p:cNvPr>
            <p:cNvSpPr/>
            <p:nvPr/>
          </p:nvSpPr>
          <p:spPr>
            <a:xfrm>
              <a:off x="0" y="0"/>
              <a:ext cx="5556885" cy="25400"/>
            </a:xfrm>
            <a:custGeom>
              <a:avLst/>
              <a:gdLst/>
              <a:ahLst/>
              <a:cxnLst/>
              <a:rect l="l" t="t" r="r" b="b"/>
              <a:pathLst>
                <a:path w="5556885" h="25400">
                  <a:moveTo>
                    <a:pt x="0" y="0"/>
                  </a:moveTo>
                  <a:lnTo>
                    <a:pt x="5556885" y="0"/>
                  </a:lnTo>
                  <a:lnTo>
                    <a:pt x="5556885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6A688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8" name="Freeform 7">
            <a:extLst>
              <a:ext uri="{FF2B5EF4-FFF2-40B4-BE49-F238E27FC236}">
                <a16:creationId xmlns:a16="http://schemas.microsoft.com/office/drawing/2014/main" id="{08699EFA-D11F-FB8A-EBF0-A18C491B8147}"/>
              </a:ext>
            </a:extLst>
          </p:cNvPr>
          <p:cNvSpPr/>
          <p:nvPr/>
        </p:nvSpPr>
        <p:spPr>
          <a:xfrm>
            <a:off x="228600" y="201792"/>
            <a:ext cx="2133600" cy="354456"/>
          </a:xfrm>
          <a:custGeom>
            <a:avLst/>
            <a:gdLst/>
            <a:ahLst/>
            <a:cxnLst/>
            <a:rect l="l" t="t" r="r" b="b"/>
            <a:pathLst>
              <a:path w="1639697" h="294513">
                <a:moveTo>
                  <a:pt x="0" y="63500"/>
                </a:moveTo>
                <a:cubicBezTo>
                  <a:pt x="0" y="28448"/>
                  <a:pt x="28448" y="0"/>
                  <a:pt x="63500" y="0"/>
                </a:cubicBezTo>
                <a:lnTo>
                  <a:pt x="1576197" y="0"/>
                </a:lnTo>
                <a:cubicBezTo>
                  <a:pt x="1611249" y="0"/>
                  <a:pt x="1639697" y="28448"/>
                  <a:pt x="1639697" y="63500"/>
                </a:cubicBezTo>
                <a:lnTo>
                  <a:pt x="1639697" y="231013"/>
                </a:lnTo>
                <a:cubicBezTo>
                  <a:pt x="1639697" y="266065"/>
                  <a:pt x="1611249" y="294513"/>
                  <a:pt x="1576197" y="294513"/>
                </a:cubicBezTo>
                <a:lnTo>
                  <a:pt x="63500" y="294513"/>
                </a:lnTo>
                <a:cubicBezTo>
                  <a:pt x="28448" y="294513"/>
                  <a:pt x="0" y="266065"/>
                  <a:pt x="0" y="231013"/>
                </a:cubicBezTo>
                <a:close/>
              </a:path>
            </a:pathLst>
          </a:custGeom>
          <a:solidFill>
            <a:srgbClr val="D6F5EE"/>
          </a:solidFill>
        </p:spPr>
        <p:txBody>
          <a:bodyPr/>
          <a:lstStyle/>
          <a:p>
            <a:r>
              <a:rPr lang="en-CA" dirty="0"/>
              <a:t> BUSINESS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1999" y="1325798"/>
            <a:ext cx="10058400" cy="10689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endParaRPr lang="en-US" sz="4000" b="1" dirty="0"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749"/>
              </a:lnSpc>
            </a:pPr>
            <a:r>
              <a:rPr lang="en-US" sz="4000" b="1" dirty="0">
                <a:latin typeface="Arimo Bold"/>
                <a:ea typeface="Arimo Bold"/>
                <a:cs typeface="Arimo Bold"/>
                <a:sym typeface="Arimo Bold"/>
              </a:rPr>
              <a:t>Dataset Overview &amp; Data Engineering</a:t>
            </a:r>
          </a:p>
          <a:p>
            <a:pPr algn="l">
              <a:lnSpc>
                <a:spcPts val="2749"/>
              </a:lnSpc>
            </a:pPr>
            <a:endParaRPr lang="en-US" sz="4000" b="1" dirty="0"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61999" y="2562829"/>
            <a:ext cx="7081104" cy="5839559"/>
            <a:chOff x="0" y="0"/>
            <a:chExt cx="5797753" cy="342244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5797804" cy="3422396"/>
            </a:xfrm>
            <a:custGeom>
              <a:avLst/>
              <a:gdLst/>
              <a:ahLst/>
              <a:cxnLst/>
              <a:rect l="l" t="t" r="r" b="b"/>
              <a:pathLst>
                <a:path w="5797804" h="3422396">
                  <a:moveTo>
                    <a:pt x="0" y="0"/>
                  </a:moveTo>
                  <a:lnTo>
                    <a:pt x="5797804" y="0"/>
                  </a:lnTo>
                  <a:lnTo>
                    <a:pt x="5797804" y="3422396"/>
                  </a:lnTo>
                  <a:lnTo>
                    <a:pt x="0" y="342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3" r="-142" b="-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077200" y="2700544"/>
            <a:ext cx="9760459" cy="5861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1874"/>
              </a:lnSpc>
            </a:pPr>
            <a:r>
              <a:rPr lang="en-US" sz="2400" b="1" dirty="0">
                <a:latin typeface="+mj-lt"/>
                <a:ea typeface="Arimo Bold"/>
                <a:cs typeface="Arimo Bold"/>
                <a:sym typeface="Arimo Bold"/>
              </a:rPr>
              <a:t>Dataset Scale &amp; Structure</a:t>
            </a:r>
          </a:p>
          <a:p>
            <a:pPr marL="0" lvl="1">
              <a:lnSpc>
                <a:spcPts val="1874"/>
              </a:lnSpc>
            </a:pPr>
            <a:endParaRPr lang="en-US" sz="20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Total Volume: 1,067,371 transaction records across 8 relational dimensions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Resource Footprint: Approximately memory usage: 65.1+ MB in-memory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0" lvl="1">
              <a:lnSpc>
                <a:spcPts val="1874"/>
              </a:lnSpc>
            </a:pPr>
            <a:r>
              <a:rPr lang="en-US" sz="2400" b="1" dirty="0">
                <a:ea typeface="Arimo Bold"/>
                <a:cs typeface="Arimo Bold"/>
                <a:sym typeface="Arimo Bold"/>
              </a:rPr>
              <a:t>Data Quality Observations</a:t>
            </a:r>
          </a:p>
          <a:p>
            <a:pPr marL="0" lvl="1">
              <a:lnSpc>
                <a:spcPts val="1874"/>
              </a:lnSpc>
            </a:pPr>
            <a:endParaRPr lang="en-US" sz="20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Integrity Gaps: significant missing values in the Customer ID 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Operational Noise: Detected approximately 19,000 cancellations 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0" lvl="1">
              <a:lnSpc>
                <a:spcPts val="1874"/>
              </a:lnSpc>
            </a:pPr>
            <a:r>
              <a:rPr lang="en-US" sz="2400" b="1" dirty="0">
                <a:ea typeface="Arimo Bold"/>
                <a:cs typeface="Arimo Bold"/>
                <a:sym typeface="Arimo Bold"/>
              </a:rPr>
              <a:t>Data Transformations (The "Sanitization" Pipeline)</a:t>
            </a:r>
          </a:p>
          <a:p>
            <a:pPr marL="0" lvl="1">
              <a:lnSpc>
                <a:spcPts val="1874"/>
              </a:lnSpc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Executed Type Casting across numerical columns to ensure mathematical consistency for Monetary value aggregations.</a:t>
            </a: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endParaRPr lang="en-US" sz="2200" dirty="0">
              <a:ea typeface="Open Sans"/>
              <a:cs typeface="Open Sans"/>
              <a:sym typeface="Arimo Bold"/>
            </a:endParaRP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ea typeface="Open Sans"/>
                <a:cs typeface="Open Sans"/>
                <a:sym typeface="Arimo Bold"/>
              </a:rPr>
              <a:t>Generated a derived Revenue column (Quantity × </a:t>
            </a:r>
            <a:r>
              <a:rPr lang="en-US" sz="2200" dirty="0" err="1">
                <a:ea typeface="Open Sans"/>
                <a:cs typeface="Open Sans"/>
                <a:sym typeface="Arimo Bold"/>
              </a:rPr>
              <a:t>UnitPrice</a:t>
            </a:r>
            <a:r>
              <a:rPr lang="en-US" sz="2200" dirty="0">
                <a:ea typeface="Open Sans"/>
                <a:cs typeface="Open Sans"/>
                <a:sym typeface="Arimo Bold"/>
              </a:rPr>
              <a:t>) to serve as the core metric for high-value customer identification.</a:t>
            </a:r>
          </a:p>
          <a:p>
            <a:pPr marL="342900" lvl="1" indent="-342900">
              <a:lnSpc>
                <a:spcPts val="1874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33F70"/>
              </a:solidFill>
              <a:ea typeface="Open Sans"/>
              <a:cs typeface="Open Sans"/>
              <a:sym typeface="Arimo Bold"/>
            </a:endParaRPr>
          </a:p>
          <a:p>
            <a:pPr marL="0" lvl="1">
              <a:lnSpc>
                <a:spcPts val="1874"/>
              </a:lnSpc>
            </a:pPr>
            <a:endParaRPr lang="en-US" sz="2400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pPr marL="0" lvl="1">
              <a:lnSpc>
                <a:spcPts val="1874"/>
              </a:lnSpc>
            </a:pPr>
            <a:endParaRPr lang="en-US" sz="2200" dirty="0">
              <a:solidFill>
                <a:srgbClr val="333F70"/>
              </a:solidFill>
              <a:ea typeface="Open Sans"/>
              <a:cs typeface="Open Sans"/>
              <a:sym typeface="Arimo Bold"/>
            </a:endParaRPr>
          </a:p>
          <a:p>
            <a:pPr marL="0" lvl="1">
              <a:lnSpc>
                <a:spcPts val="1874"/>
              </a:lnSpc>
            </a:pPr>
            <a:endParaRPr lang="en-US" sz="2200" dirty="0">
              <a:solidFill>
                <a:srgbClr val="333F70"/>
              </a:solidFill>
              <a:ea typeface="Open Sans"/>
              <a:cs typeface="Open Sans"/>
              <a:sym typeface="Arimo Bold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6281C12B-D23E-FA95-B4F7-1A2C1D3655D0}"/>
              </a:ext>
            </a:extLst>
          </p:cNvPr>
          <p:cNvSpPr/>
          <p:nvPr/>
        </p:nvSpPr>
        <p:spPr>
          <a:xfrm>
            <a:off x="228600" y="201792"/>
            <a:ext cx="2133600" cy="369708"/>
          </a:xfrm>
          <a:custGeom>
            <a:avLst/>
            <a:gdLst/>
            <a:ahLst/>
            <a:cxnLst/>
            <a:rect l="l" t="t" r="r" b="b"/>
            <a:pathLst>
              <a:path w="1639697" h="294513">
                <a:moveTo>
                  <a:pt x="0" y="63500"/>
                </a:moveTo>
                <a:cubicBezTo>
                  <a:pt x="0" y="28448"/>
                  <a:pt x="28448" y="0"/>
                  <a:pt x="63500" y="0"/>
                </a:cubicBezTo>
                <a:lnTo>
                  <a:pt x="1576197" y="0"/>
                </a:lnTo>
                <a:cubicBezTo>
                  <a:pt x="1611249" y="0"/>
                  <a:pt x="1639697" y="28448"/>
                  <a:pt x="1639697" y="63500"/>
                </a:cubicBezTo>
                <a:lnTo>
                  <a:pt x="1639697" y="231013"/>
                </a:lnTo>
                <a:cubicBezTo>
                  <a:pt x="1639697" y="266065"/>
                  <a:pt x="1611249" y="294513"/>
                  <a:pt x="1576197" y="294513"/>
                </a:cubicBezTo>
                <a:lnTo>
                  <a:pt x="63500" y="294513"/>
                </a:lnTo>
                <a:cubicBezTo>
                  <a:pt x="28448" y="294513"/>
                  <a:pt x="0" y="266065"/>
                  <a:pt x="0" y="231013"/>
                </a:cubicBezTo>
                <a:close/>
              </a:path>
            </a:pathLst>
          </a:custGeom>
          <a:solidFill>
            <a:srgbClr val="D6F5EE"/>
          </a:solidFill>
        </p:spPr>
        <p:txBody>
          <a:bodyPr/>
          <a:lstStyle/>
          <a:p>
            <a:r>
              <a:rPr lang="en-CA" dirty="0"/>
              <a:t> DATA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 sz="200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 sz="200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75421" y="861488"/>
            <a:ext cx="13619213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dirty="0">
                <a:ea typeface="Arimo Bold"/>
                <a:cs typeface="Arimo Bold"/>
                <a:sym typeface="Arimo Bold"/>
              </a:rPr>
              <a:t>Key Insights: High-Value </a:t>
            </a:r>
          </a:p>
          <a:p>
            <a:pPr algn="l"/>
            <a:r>
              <a:rPr lang="en-US" sz="4000" b="1" dirty="0">
                <a:ea typeface="Arimo Bold"/>
                <a:cs typeface="Arimo Bold"/>
                <a:sym typeface="Arimo Bold"/>
              </a:rPr>
              <a:t>Concentration &amp; Recovery </a:t>
            </a:r>
          </a:p>
          <a:p>
            <a:pPr algn="l"/>
            <a:r>
              <a:rPr lang="en-US" sz="4000" b="1" dirty="0">
                <a:ea typeface="Arimo Bold"/>
                <a:cs typeface="Arimo Bold"/>
                <a:sym typeface="Arimo Bold"/>
              </a:rPr>
              <a:t>Opportunity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2584" y="3128418"/>
            <a:ext cx="7615815" cy="5409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endParaRPr lang="en-US" sz="2400" b="1" dirty="0"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063"/>
              </a:lnSpc>
            </a:pPr>
            <a:endParaRPr lang="en-US" sz="2400" b="1" dirty="0"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063"/>
              </a:lnSpc>
            </a:pPr>
            <a:endParaRPr lang="en-US" sz="2400" b="1" dirty="0"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063"/>
              </a:lnSpc>
            </a:pPr>
            <a:r>
              <a:rPr lang="en-US" sz="2400" b="1" dirty="0">
                <a:ea typeface="Arimo Bold"/>
                <a:cs typeface="Arimo Bold"/>
                <a:sym typeface="Arimo Bold"/>
              </a:rPr>
              <a:t>The Profit Engine - 852 Champions</a:t>
            </a:r>
          </a:p>
          <a:p>
            <a:pPr algn="l">
              <a:lnSpc>
                <a:spcPts val="2063"/>
              </a:lnSpc>
            </a:pPr>
            <a:endParaRPr lang="en-US" sz="2400" b="1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Finding (WHAT):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ea typeface="Arimo Bold"/>
                <a:cs typeface="Arimo Bold"/>
              </a:rPr>
              <a:t>Elite Tier: Profitability is driven by 852 "Champions".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ea typeface="Arimo Bold"/>
                <a:cs typeface="Arimo Bold"/>
              </a:rPr>
              <a:t>High Engagement: Mean spend of £10,795.52 with purchases every ~30 days.</a:t>
            </a:r>
          </a:p>
          <a:p>
            <a:endParaRPr lang="en-US" sz="2200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Analytical Evidence (HOW):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Arimo Bold"/>
                <a:cs typeface="Arimo Bold"/>
                <a:sym typeface="Arimo Bold"/>
              </a:rPr>
              <a:t>Key Stat: 852 Champions represent the backbone of net profitability</a:t>
            </a:r>
          </a:p>
          <a:p>
            <a:pPr marL="64126" lvl="1"/>
            <a:endParaRPr lang="en-US" sz="2200" b="1" dirty="0">
              <a:ea typeface="Arimo Bold"/>
              <a:cs typeface="Arimo Bold"/>
              <a:sym typeface="Arimo Bold"/>
            </a:endParaRPr>
          </a:p>
          <a:p>
            <a:pPr marL="64126" lvl="1"/>
            <a:r>
              <a:rPr lang="en-US" sz="2200" b="1" dirty="0">
                <a:ea typeface="Arimo Bold"/>
                <a:cs typeface="Arimo Bold"/>
                <a:sym typeface="Arimo Bold"/>
              </a:rPr>
              <a:t>Business Impact(WHY):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ea typeface="Arimo Bold"/>
                <a:cs typeface="Arimo Bold"/>
                <a:sym typeface="Arimo Bold"/>
              </a:rPr>
              <a:t>Revenue Growth: Protecting Champions through "White Glove Service"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96600" y="1354304"/>
            <a:ext cx="5801428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8251" lvl="1" indent="-64125">
              <a:buFont typeface="Arial"/>
              <a:buChar char="•"/>
            </a:pPr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pPr marL="128251" lvl="1" indent="-64125">
              <a:buFont typeface="Arial"/>
              <a:buChar char="•"/>
            </a:pPr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pPr algn="l"/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pPr algn="l"/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pPr algn="l"/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D042D2-5F82-E170-F5A3-8975899BF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61" y="1562100"/>
            <a:ext cx="8555980" cy="6299645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C0CDC2B5-52A6-291B-F53A-FC6AAFA24B5D}"/>
              </a:ext>
            </a:extLst>
          </p:cNvPr>
          <p:cNvSpPr/>
          <p:nvPr/>
        </p:nvSpPr>
        <p:spPr>
          <a:xfrm>
            <a:off x="228600" y="201792"/>
            <a:ext cx="1153379" cy="395108"/>
          </a:xfrm>
          <a:custGeom>
            <a:avLst/>
            <a:gdLst/>
            <a:ahLst/>
            <a:cxnLst/>
            <a:rect l="l" t="t" r="r" b="b"/>
            <a:pathLst>
              <a:path w="1639697" h="294513">
                <a:moveTo>
                  <a:pt x="0" y="63500"/>
                </a:moveTo>
                <a:cubicBezTo>
                  <a:pt x="0" y="28448"/>
                  <a:pt x="28448" y="0"/>
                  <a:pt x="63500" y="0"/>
                </a:cubicBezTo>
                <a:lnTo>
                  <a:pt x="1576197" y="0"/>
                </a:lnTo>
                <a:cubicBezTo>
                  <a:pt x="1611249" y="0"/>
                  <a:pt x="1639697" y="28448"/>
                  <a:pt x="1639697" y="63500"/>
                </a:cubicBezTo>
                <a:lnTo>
                  <a:pt x="1639697" y="231013"/>
                </a:lnTo>
                <a:cubicBezTo>
                  <a:pt x="1639697" y="266065"/>
                  <a:pt x="1611249" y="294513"/>
                  <a:pt x="1576197" y="294513"/>
                </a:cubicBezTo>
                <a:lnTo>
                  <a:pt x="63500" y="294513"/>
                </a:lnTo>
                <a:cubicBezTo>
                  <a:pt x="28448" y="294513"/>
                  <a:pt x="0" y="266065"/>
                  <a:pt x="0" y="231013"/>
                </a:cubicBezTo>
                <a:close/>
              </a:path>
            </a:pathLst>
          </a:custGeom>
          <a:solidFill>
            <a:srgbClr val="D6F5EE"/>
          </a:solidFill>
        </p:spPr>
        <p:txBody>
          <a:bodyPr/>
          <a:lstStyle/>
          <a:p>
            <a:r>
              <a:rPr lang="en-CA" dirty="0"/>
              <a:t> 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850E6C-B241-4C0A-C47D-B887BCD0C300}"/>
              </a:ext>
            </a:extLst>
          </p:cNvPr>
          <p:cNvSpPr txBox="1"/>
          <p:nvPr/>
        </p:nvSpPr>
        <p:spPr>
          <a:xfrm>
            <a:off x="304800" y="705484"/>
            <a:ext cx="632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  <a:sym typeface="Arimo Bold"/>
              </a:rPr>
              <a:t>Key Insights - Continued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504DD-C454-C327-9B97-2BD45904A22F}"/>
              </a:ext>
            </a:extLst>
          </p:cNvPr>
          <p:cNvSpPr txBox="1"/>
          <p:nvPr/>
        </p:nvSpPr>
        <p:spPr>
          <a:xfrm>
            <a:off x="304800" y="1906369"/>
            <a:ext cx="6096000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126" lvl="1"/>
            <a:endParaRPr lang="en-US" sz="2100" dirty="0">
              <a:ea typeface="Arimo Bold"/>
              <a:cs typeface="Arimo Bold"/>
              <a:sym typeface="Arimo Bold"/>
            </a:endParaRPr>
          </a:p>
          <a:p>
            <a:r>
              <a:rPr lang="en-US" sz="2400" b="1" dirty="0">
                <a:ea typeface="Arimo Bold"/>
                <a:cs typeface="Arimo Bold"/>
                <a:sym typeface="Arimo Bold"/>
              </a:rPr>
              <a:t>The Churn Risk - 71 "Can't Lose" Whales</a:t>
            </a:r>
          </a:p>
          <a:p>
            <a:endParaRPr lang="en-US" sz="2400" b="1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Finding (WHAT):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71 High-Value Leads</a:t>
            </a:r>
            <a:r>
              <a:rPr lang="en-US" altLang="en-US" sz="2200" dirty="0"/>
              <a:t>: High frequency (~16 orders) and high spend (£8,355 avg).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Critical Silence</a:t>
            </a:r>
            <a:r>
              <a:rPr lang="en-US" altLang="en-US" sz="2200" dirty="0"/>
              <a:t>: No activity for 352.8 days.</a:t>
            </a:r>
          </a:p>
          <a:p>
            <a:endParaRPr lang="en-US" sz="2200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Analytical Evidence (HOW):</a:t>
            </a:r>
          </a:p>
          <a:p>
            <a:pPr marL="407026" lvl="1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Churn Indicator</a:t>
            </a:r>
            <a:r>
              <a:rPr lang="en-US" sz="2200" dirty="0"/>
              <a:t>: High monetary value vs. critically low recency.</a:t>
            </a:r>
          </a:p>
          <a:p>
            <a:pPr marL="64126" lvl="1"/>
            <a:endParaRPr lang="en-US" sz="2200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Business Impact (WHY):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Revenue Recovery</a:t>
            </a:r>
            <a:r>
              <a:rPr lang="en-US" sz="2200" dirty="0"/>
              <a:t>: Immediate launch of targeted "Win-Back" campaign.</a:t>
            </a:r>
            <a:endParaRPr lang="en-US" sz="2200" dirty="0">
              <a:sym typeface="Arimo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C616D-BE1A-B6EC-F7A7-C117BE35A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51816"/>
            <a:ext cx="11049000" cy="7906484"/>
          </a:xfrm>
          <a:prstGeom prst="rect">
            <a:avLst/>
          </a:prstGeom>
        </p:spPr>
      </p:pic>
      <p:sp>
        <p:nvSpPr>
          <p:cNvPr id="10" name="Freeform 7">
            <a:extLst>
              <a:ext uri="{FF2B5EF4-FFF2-40B4-BE49-F238E27FC236}">
                <a16:creationId xmlns:a16="http://schemas.microsoft.com/office/drawing/2014/main" id="{B9F9B9B3-5EBB-2199-D8D7-6D1189A44F96}"/>
              </a:ext>
            </a:extLst>
          </p:cNvPr>
          <p:cNvSpPr/>
          <p:nvPr/>
        </p:nvSpPr>
        <p:spPr>
          <a:xfrm>
            <a:off x="228600" y="201792"/>
            <a:ext cx="1153379" cy="395108"/>
          </a:xfrm>
          <a:custGeom>
            <a:avLst/>
            <a:gdLst/>
            <a:ahLst/>
            <a:cxnLst/>
            <a:rect l="l" t="t" r="r" b="b"/>
            <a:pathLst>
              <a:path w="1639697" h="294513">
                <a:moveTo>
                  <a:pt x="0" y="63500"/>
                </a:moveTo>
                <a:cubicBezTo>
                  <a:pt x="0" y="28448"/>
                  <a:pt x="28448" y="0"/>
                  <a:pt x="63500" y="0"/>
                </a:cubicBezTo>
                <a:lnTo>
                  <a:pt x="1576197" y="0"/>
                </a:lnTo>
                <a:cubicBezTo>
                  <a:pt x="1611249" y="0"/>
                  <a:pt x="1639697" y="28448"/>
                  <a:pt x="1639697" y="63500"/>
                </a:cubicBezTo>
                <a:lnTo>
                  <a:pt x="1639697" y="231013"/>
                </a:lnTo>
                <a:cubicBezTo>
                  <a:pt x="1639697" y="266065"/>
                  <a:pt x="1611249" y="294513"/>
                  <a:pt x="1576197" y="294513"/>
                </a:cubicBezTo>
                <a:lnTo>
                  <a:pt x="63500" y="294513"/>
                </a:lnTo>
                <a:cubicBezTo>
                  <a:pt x="28448" y="294513"/>
                  <a:pt x="0" y="266065"/>
                  <a:pt x="0" y="231013"/>
                </a:cubicBezTo>
                <a:close/>
              </a:path>
            </a:pathLst>
          </a:custGeom>
          <a:solidFill>
            <a:srgbClr val="D6F5EE"/>
          </a:solidFill>
        </p:spPr>
        <p:txBody>
          <a:bodyPr/>
          <a:lstStyle/>
          <a:p>
            <a:r>
              <a:rPr lang="en-CA" dirty="0"/>
              <a:t> INSIGHT</a:t>
            </a:r>
          </a:p>
        </p:txBody>
      </p:sp>
    </p:spTree>
    <p:extLst>
      <p:ext uri="{BB962C8B-B14F-4D97-AF65-F5344CB8AC3E}">
        <p14:creationId xmlns:p14="http://schemas.microsoft.com/office/powerpoint/2010/main" val="2957273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0747AD-8B6E-A5AE-7854-C9313C213897}"/>
              </a:ext>
            </a:extLst>
          </p:cNvPr>
          <p:cNvSpPr txBox="1"/>
          <p:nvPr/>
        </p:nvSpPr>
        <p:spPr>
          <a:xfrm>
            <a:off x="9220200" y="571500"/>
            <a:ext cx="7937495" cy="7786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  <a:sym typeface="Arimo Bold"/>
              </a:rPr>
              <a:t>Key Insights - Continued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2EBD1-44E9-128C-829F-F999FD971434}"/>
              </a:ext>
            </a:extLst>
          </p:cNvPr>
          <p:cNvSpPr txBox="1"/>
          <p:nvPr/>
        </p:nvSpPr>
        <p:spPr>
          <a:xfrm>
            <a:off x="9296400" y="1866900"/>
            <a:ext cx="7937494" cy="7239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ym typeface="Arimo Bold"/>
              </a:rPr>
              <a:t>Seasonal Volatility &amp; The Retention Economics Gap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b="1" dirty="0">
              <a:sym typeface="Arimo Bold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sym typeface="Arimo Bold"/>
              </a:rPr>
              <a:t>Finding (WHAT):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2200" b="1" dirty="0"/>
              <a:t>Q4 Revenue Spike</a:t>
            </a:r>
            <a:r>
              <a:rPr lang="en-CA" sz="2200" dirty="0"/>
              <a:t>: November revenue surges nearly 300%.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CA" sz="2400" b="1" dirty="0">
              <a:sym typeface="Arimo Bold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sym typeface="Arimo Bold"/>
              </a:rPr>
              <a:t>Analytical Evidence (HOW):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Low Retention</a:t>
            </a:r>
            <a:r>
              <a:rPr lang="en-US" altLang="en-US" sz="2200" dirty="0"/>
              <a:t>: New customers average 1.0 frequency.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Churn Risk</a:t>
            </a:r>
            <a:r>
              <a:rPr lang="en-US" altLang="en-US" sz="2200" dirty="0"/>
              <a:t>: High drift from "New" to "Hibernating" status.</a:t>
            </a:r>
          </a:p>
          <a:p>
            <a:pPr marL="0" lvl="1">
              <a:lnSpc>
                <a:spcPct val="90000"/>
              </a:lnSpc>
              <a:spcAft>
                <a:spcPts val="600"/>
              </a:spcAft>
            </a:pPr>
            <a:endParaRPr lang="en-US" sz="2200" b="1" dirty="0">
              <a:sym typeface="Arimo Bold"/>
            </a:endParaRPr>
          </a:p>
          <a:p>
            <a:pPr marL="0" lvl="1">
              <a:lnSpc>
                <a:spcPct val="90000"/>
              </a:lnSpc>
              <a:spcAft>
                <a:spcPts val="600"/>
              </a:spcAft>
            </a:pPr>
            <a:r>
              <a:rPr lang="en-US" sz="2200" b="1" dirty="0">
                <a:sym typeface="Arimo Bold"/>
              </a:rPr>
              <a:t>Business Impact (WHY):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Cost Efficiency</a:t>
            </a:r>
            <a:r>
              <a:rPr lang="en-US" altLang="en-US" sz="2200" dirty="0"/>
              <a:t>: Higher forecast accuracy via Q4 data.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Strategic Shift</a:t>
            </a:r>
            <a:r>
              <a:rPr lang="en-US" altLang="en-US" sz="2200" dirty="0"/>
              <a:t>: Prioritizing "Retention-First" Welcome Journeys.</a:t>
            </a: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241722C8-368B-26DA-84FD-A9E2C0E9257C}"/>
              </a:ext>
            </a:extLst>
          </p:cNvPr>
          <p:cNvGrpSpPr/>
          <p:nvPr/>
        </p:nvGrpSpPr>
        <p:grpSpPr>
          <a:xfrm>
            <a:off x="228600" y="201792"/>
            <a:ext cx="1153379" cy="395108"/>
            <a:chOff x="0" y="0"/>
            <a:chExt cx="1639697" cy="294513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C35863D-6F3C-1884-C5FF-A726A2A096AF}"/>
                </a:ext>
              </a:extLst>
            </p:cNvPr>
            <p:cNvSpPr/>
            <p:nvPr/>
          </p:nvSpPr>
          <p:spPr>
            <a:xfrm>
              <a:off x="0" y="0"/>
              <a:ext cx="1639697" cy="294513"/>
            </a:xfrm>
            <a:custGeom>
              <a:avLst/>
              <a:gdLst/>
              <a:ahLst/>
              <a:cxnLst/>
              <a:rect l="l" t="t" r="r" b="b"/>
              <a:pathLst>
                <a:path w="1639697" h="294513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576197" y="0"/>
                  </a:lnTo>
                  <a:cubicBezTo>
                    <a:pt x="1611249" y="0"/>
                    <a:pt x="1639697" y="28448"/>
                    <a:pt x="1639697" y="63500"/>
                  </a:cubicBezTo>
                  <a:lnTo>
                    <a:pt x="1639697" y="231013"/>
                  </a:lnTo>
                  <a:cubicBezTo>
                    <a:pt x="1639697" y="266065"/>
                    <a:pt x="1611249" y="294513"/>
                    <a:pt x="1576197" y="294513"/>
                  </a:cubicBezTo>
                  <a:lnTo>
                    <a:pt x="63500" y="294513"/>
                  </a:lnTo>
                  <a:cubicBezTo>
                    <a:pt x="28448" y="294513"/>
                    <a:pt x="0" y="266065"/>
                    <a:pt x="0" y="231013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r>
                <a:rPr lang="en-CA" dirty="0"/>
                <a:t> INSIGHT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79FF6D5-248B-BBA2-D0DA-8ADB7E152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1" y="723901"/>
            <a:ext cx="8775700" cy="518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1CDCAC-43ED-0AC1-0FE2-5D70137C1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206742"/>
            <a:ext cx="8779001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7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491806-5874-CA68-3E8B-EE5C978BA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11" y="342900"/>
            <a:ext cx="11240189" cy="9012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7D0783-104E-8F32-29F2-725A1E886FA9}"/>
              </a:ext>
            </a:extLst>
          </p:cNvPr>
          <p:cNvSpPr txBox="1"/>
          <p:nvPr/>
        </p:nvSpPr>
        <p:spPr>
          <a:xfrm>
            <a:off x="762000" y="2340896"/>
            <a:ext cx="562159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sz="2400" b="1" dirty="0"/>
              <a:t>Top 40 SKU Inventory Analysis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400" b="1" dirty="0"/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200" b="1" dirty="0"/>
              <a:t>Finding (WHAT):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/>
              <a:t>Core Stock Drivers: </a:t>
            </a:r>
            <a:r>
              <a:rPr lang="en-US" altLang="en-US" sz="2200" dirty="0"/>
              <a:t>Top 40 SKUs dominate warehouse throughput and velocity.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b="1" dirty="0"/>
              <a:t>Analytical Evidence (HOW):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/>
              <a:t>Quantity Summation:</a:t>
            </a:r>
            <a:r>
              <a:rPr lang="en-US" altLang="en-US" sz="2200" dirty="0"/>
              <a:t> Grouped descriptions by total units sold to visualize stock movement.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200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b="1" dirty="0"/>
              <a:t>Business Impact (WHY):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200" b="1" dirty="0"/>
              <a:t>Efficiency Gain: </a:t>
            </a:r>
            <a:r>
              <a:rPr lang="en-US" altLang="en-US" sz="2200" dirty="0"/>
              <a:t>Prioritizing these SKUs for "fast-pick" zones reduces fulfillment latency.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38AD1-0F10-D789-7AD2-6E588B5ABF2F}"/>
              </a:ext>
            </a:extLst>
          </p:cNvPr>
          <p:cNvSpPr txBox="1"/>
          <p:nvPr/>
        </p:nvSpPr>
        <p:spPr>
          <a:xfrm>
            <a:off x="533400" y="60818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  <a:sym typeface="Arimo Bold"/>
              </a:rPr>
              <a:t>Key Insights - Continued</a:t>
            </a:r>
            <a:endParaRPr lang="en-US" sz="4000" b="1" dirty="0">
              <a:latin typeface="+mj-lt"/>
              <a:ea typeface="+mj-ea"/>
              <a:cs typeface="+mj-cs"/>
              <a:sym typeface="Arimo Bold"/>
            </a:endParaRP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DFF3C0DF-C875-1340-5D9A-75B0B21B7B5F}"/>
              </a:ext>
            </a:extLst>
          </p:cNvPr>
          <p:cNvSpPr/>
          <p:nvPr/>
        </p:nvSpPr>
        <p:spPr>
          <a:xfrm>
            <a:off x="228600" y="201792"/>
            <a:ext cx="1153379" cy="395108"/>
          </a:xfrm>
          <a:custGeom>
            <a:avLst/>
            <a:gdLst/>
            <a:ahLst/>
            <a:cxnLst/>
            <a:rect l="l" t="t" r="r" b="b"/>
            <a:pathLst>
              <a:path w="1639697" h="294513">
                <a:moveTo>
                  <a:pt x="0" y="63500"/>
                </a:moveTo>
                <a:cubicBezTo>
                  <a:pt x="0" y="28448"/>
                  <a:pt x="28448" y="0"/>
                  <a:pt x="63500" y="0"/>
                </a:cubicBezTo>
                <a:lnTo>
                  <a:pt x="1576197" y="0"/>
                </a:lnTo>
                <a:cubicBezTo>
                  <a:pt x="1611249" y="0"/>
                  <a:pt x="1639697" y="28448"/>
                  <a:pt x="1639697" y="63500"/>
                </a:cubicBezTo>
                <a:lnTo>
                  <a:pt x="1639697" y="231013"/>
                </a:lnTo>
                <a:cubicBezTo>
                  <a:pt x="1639697" y="266065"/>
                  <a:pt x="1611249" y="294513"/>
                  <a:pt x="1576197" y="294513"/>
                </a:cubicBezTo>
                <a:lnTo>
                  <a:pt x="63500" y="294513"/>
                </a:lnTo>
                <a:cubicBezTo>
                  <a:pt x="28448" y="294513"/>
                  <a:pt x="0" y="266065"/>
                  <a:pt x="0" y="231013"/>
                </a:cubicBezTo>
                <a:close/>
              </a:path>
            </a:pathLst>
          </a:custGeom>
          <a:solidFill>
            <a:srgbClr val="D6F5EE"/>
          </a:solidFill>
        </p:spPr>
        <p:txBody>
          <a:bodyPr/>
          <a:lstStyle/>
          <a:p>
            <a:r>
              <a:rPr lang="en-CA" dirty="0"/>
              <a:t> INSIGHT</a:t>
            </a:r>
          </a:p>
        </p:txBody>
      </p:sp>
    </p:spTree>
    <p:extLst>
      <p:ext uri="{BB962C8B-B14F-4D97-AF65-F5344CB8AC3E}">
        <p14:creationId xmlns:p14="http://schemas.microsoft.com/office/powerpoint/2010/main" val="319791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54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82921" y="1170273"/>
            <a:ext cx="9089384" cy="407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750" b="1" dirty="0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Recommendations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5621" y="2178010"/>
            <a:ext cx="7076779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200" dirty="0">
                <a:ea typeface="Arimo Bold"/>
                <a:cs typeface="Arimo Bold"/>
                <a:sym typeface="Arimo Bold"/>
              </a:rPr>
              <a:t>We are no longer guessing; we are engineering growth.</a:t>
            </a:r>
          </a:p>
          <a:p>
            <a:endParaRPr lang="en-US" sz="2200" dirty="0">
              <a:ea typeface="Arimo Bold"/>
              <a:cs typeface="Arimo Bold"/>
              <a:sym typeface="Arimo Bold"/>
            </a:endParaRPr>
          </a:p>
          <a:p>
            <a:endParaRPr lang="en-US" sz="2200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A. Customer Strategy: Value-Based Retention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+mj-lt"/>
              </a:rPr>
              <a:t>VIP Program:</a:t>
            </a:r>
            <a:r>
              <a:rPr lang="en-US" altLang="en-US" sz="2200" dirty="0">
                <a:latin typeface="+mj-lt"/>
              </a:rPr>
              <a:t> "White Glove" service for 852 top spenders.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+mj-lt"/>
              </a:rPr>
              <a:t>Churn Recovery:</a:t>
            </a:r>
            <a:r>
              <a:rPr lang="en-US" altLang="en-US" sz="2200" dirty="0">
                <a:latin typeface="+mj-lt"/>
              </a:rPr>
              <a:t> Immediate "Win-Back" for 71 critical accounts.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+mj-lt"/>
              </a:rPr>
              <a:t>Retention Onboarding:</a:t>
            </a:r>
            <a:r>
              <a:rPr lang="en-US" altLang="en-US" sz="2200" dirty="0">
                <a:latin typeface="+mj-lt"/>
              </a:rPr>
              <a:t> Automated "Welcome Journeys" for new users.</a:t>
            </a:r>
          </a:p>
          <a:p>
            <a:pPr marL="64126" lvl="1"/>
            <a:endParaRPr lang="en-US" sz="2200" dirty="0">
              <a:ea typeface="Arimo Bold"/>
              <a:cs typeface="Arimo Bold"/>
              <a:sym typeface="Arimo Bold"/>
            </a:endParaRPr>
          </a:p>
          <a:p>
            <a:r>
              <a:rPr lang="en-US" sz="2200" b="1" dirty="0">
                <a:ea typeface="Arimo Bold"/>
                <a:cs typeface="Arimo Bold"/>
                <a:sym typeface="Arimo Bold"/>
              </a:rPr>
              <a:t>B. Product Strategy: Inventory &amp; Bundle Optimization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Inventory Loading: </a:t>
            </a:r>
            <a:r>
              <a:rPr lang="en-US" altLang="en-US" sz="2200" dirty="0"/>
              <a:t>Front-load 70% of holiday stock for November.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/>
              <a:t>Bundle Optimization: </a:t>
            </a:r>
            <a:r>
              <a:rPr lang="en-US" altLang="en-US" sz="2200" dirty="0"/>
              <a:t>"Wholesale Bundles" to drive higher AOV.</a:t>
            </a:r>
          </a:p>
          <a:p>
            <a:endParaRPr lang="en-US" sz="2200" b="1" dirty="0">
              <a:ea typeface="Arimo Bold"/>
              <a:cs typeface="Arimo Bold"/>
              <a:sym typeface="Arimo Bold"/>
            </a:endParaRPr>
          </a:p>
          <a:p>
            <a:endParaRPr lang="en-US" sz="2200" b="1" dirty="0">
              <a:ea typeface="Arimo Bold"/>
              <a:cs typeface="Arimo Bold"/>
              <a:sym typeface="Arimo Bol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4CA9F9-90C2-1EEC-B8C2-349EF67EC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9" y="754912"/>
            <a:ext cx="9399185" cy="8503388"/>
          </a:xfrm>
          <a:prstGeom prst="rect">
            <a:avLst/>
          </a:prstGeom>
        </p:spPr>
      </p:pic>
      <p:sp>
        <p:nvSpPr>
          <p:cNvPr id="6" name="Freeform 7">
            <a:extLst>
              <a:ext uri="{FF2B5EF4-FFF2-40B4-BE49-F238E27FC236}">
                <a16:creationId xmlns:a16="http://schemas.microsoft.com/office/drawing/2014/main" id="{7402382B-4B25-1132-C4D4-C2B6FEB3EC45}"/>
              </a:ext>
            </a:extLst>
          </p:cNvPr>
          <p:cNvSpPr/>
          <p:nvPr/>
        </p:nvSpPr>
        <p:spPr>
          <a:xfrm>
            <a:off x="228600" y="201792"/>
            <a:ext cx="2133600" cy="368035"/>
          </a:xfrm>
          <a:custGeom>
            <a:avLst/>
            <a:gdLst/>
            <a:ahLst/>
            <a:cxnLst/>
            <a:rect l="l" t="t" r="r" b="b"/>
            <a:pathLst>
              <a:path w="1639697" h="294513">
                <a:moveTo>
                  <a:pt x="0" y="63500"/>
                </a:moveTo>
                <a:cubicBezTo>
                  <a:pt x="0" y="28448"/>
                  <a:pt x="28448" y="0"/>
                  <a:pt x="63500" y="0"/>
                </a:cubicBezTo>
                <a:lnTo>
                  <a:pt x="1576197" y="0"/>
                </a:lnTo>
                <a:cubicBezTo>
                  <a:pt x="1611249" y="0"/>
                  <a:pt x="1639697" y="28448"/>
                  <a:pt x="1639697" y="63500"/>
                </a:cubicBezTo>
                <a:lnTo>
                  <a:pt x="1639697" y="231013"/>
                </a:lnTo>
                <a:cubicBezTo>
                  <a:pt x="1639697" y="266065"/>
                  <a:pt x="1611249" y="294513"/>
                  <a:pt x="1576197" y="294513"/>
                </a:cubicBezTo>
                <a:lnTo>
                  <a:pt x="63500" y="294513"/>
                </a:lnTo>
                <a:cubicBezTo>
                  <a:pt x="28448" y="294513"/>
                  <a:pt x="0" y="266065"/>
                  <a:pt x="0" y="231013"/>
                </a:cubicBezTo>
                <a:close/>
              </a:path>
            </a:pathLst>
          </a:custGeom>
          <a:solidFill>
            <a:srgbClr val="D6F5EE"/>
          </a:solidFill>
        </p:spPr>
        <p:txBody>
          <a:bodyPr/>
          <a:lstStyle/>
          <a:p>
            <a:r>
              <a:rPr lang="en-CA" dirty="0"/>
              <a:t> RECOMMENDATION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4800" y="305057"/>
            <a:ext cx="1371600" cy="483098"/>
            <a:chOff x="-928752" y="-1079572"/>
            <a:chExt cx="2757551" cy="526669"/>
          </a:xfrm>
        </p:grpSpPr>
        <p:sp>
          <p:nvSpPr>
            <p:cNvPr id="7" name="Freeform 7"/>
            <p:cNvSpPr/>
            <p:nvPr/>
          </p:nvSpPr>
          <p:spPr>
            <a:xfrm>
              <a:off x="-928752" y="-1079572"/>
              <a:ext cx="2757551" cy="526669"/>
            </a:xfrm>
            <a:custGeom>
              <a:avLst/>
              <a:gdLst/>
              <a:ahLst/>
              <a:cxnLst/>
              <a:rect l="l" t="t" r="r" b="b"/>
              <a:pathLst>
                <a:path w="2757551" h="526669">
                  <a:moveTo>
                    <a:pt x="0" y="101219"/>
                  </a:moveTo>
                  <a:cubicBezTo>
                    <a:pt x="0" y="45339"/>
                    <a:pt x="45339" y="0"/>
                    <a:pt x="101219" y="0"/>
                  </a:cubicBezTo>
                  <a:lnTo>
                    <a:pt x="2656332" y="0"/>
                  </a:lnTo>
                  <a:cubicBezTo>
                    <a:pt x="2712212" y="0"/>
                    <a:pt x="2757551" y="45339"/>
                    <a:pt x="2757551" y="101219"/>
                  </a:cubicBezTo>
                  <a:lnTo>
                    <a:pt x="2757551" y="425450"/>
                  </a:lnTo>
                  <a:cubicBezTo>
                    <a:pt x="2757551" y="481330"/>
                    <a:pt x="2712212" y="526669"/>
                    <a:pt x="2656332" y="526669"/>
                  </a:cubicBezTo>
                  <a:lnTo>
                    <a:pt x="101219" y="526669"/>
                  </a:lnTo>
                  <a:cubicBezTo>
                    <a:pt x="45339" y="526669"/>
                    <a:pt x="0" y="481330"/>
                    <a:pt x="0" y="425450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9393" y="438664"/>
            <a:ext cx="1140807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ROADMAP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2998" y="1788166"/>
            <a:ext cx="12356154" cy="57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 b="1" dirty="0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Strategic Roadmap for Sustainable Growth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2998" y="2631872"/>
            <a:ext cx="15581862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100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Our recommendations outline a phased approach to leverage data insights for targeted marketing and long-term customer engagement.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52998" y="3244301"/>
            <a:ext cx="1128998" cy="1129189"/>
            <a:chOff x="0" y="0"/>
            <a:chExt cx="1505331" cy="1505585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505331" cy="1505585"/>
            </a:xfrm>
            <a:custGeom>
              <a:avLst/>
              <a:gdLst/>
              <a:ahLst/>
              <a:cxnLst/>
              <a:rect l="l" t="t" r="r" b="b"/>
              <a:pathLst>
                <a:path w="1505331" h="1505585">
                  <a:moveTo>
                    <a:pt x="0" y="0"/>
                  </a:moveTo>
                  <a:lnTo>
                    <a:pt x="1505331" y="0"/>
                  </a:lnTo>
                  <a:lnTo>
                    <a:pt x="1505331" y="1505585"/>
                  </a:lnTo>
                  <a:lnTo>
                    <a:pt x="0" y="150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r="-8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61790" y="3187151"/>
            <a:ext cx="3454451" cy="36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Customer Strategy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61790" y="3619348"/>
            <a:ext cx="1427306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100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Move "Potential Loyalists" into "Loyal" tiers through personalized "Next-Purchase" recommendations, fostering consistent engagement.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52998" y="4599232"/>
            <a:ext cx="1128998" cy="1335405"/>
            <a:chOff x="0" y="0"/>
            <a:chExt cx="1505331" cy="178054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505331" cy="1780540"/>
            </a:xfrm>
            <a:custGeom>
              <a:avLst/>
              <a:gdLst/>
              <a:ahLst/>
              <a:cxnLst/>
              <a:rect l="l" t="t" r="r" b="b"/>
              <a:pathLst>
                <a:path w="1505331" h="1780540">
                  <a:moveTo>
                    <a:pt x="0" y="0"/>
                  </a:moveTo>
                  <a:lnTo>
                    <a:pt x="1505331" y="0"/>
                  </a:lnTo>
                  <a:lnTo>
                    <a:pt x="1505331" y="1780540"/>
                  </a:lnTo>
                  <a:lnTo>
                    <a:pt x="0" y="1780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9" r="-340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661790" y="4542082"/>
            <a:ext cx="4310653" cy="36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Short-Term (0-3 Months)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61790" y="4974279"/>
            <a:ext cx="1427306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100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Build marketing-facing dashboards for real-time performance monitoring using Power BI , Tableau or cloud resources.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52998" y="6160446"/>
            <a:ext cx="1128998" cy="1129189"/>
            <a:chOff x="0" y="0"/>
            <a:chExt cx="1505331" cy="1505585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505331" cy="1505585"/>
            </a:xfrm>
            <a:custGeom>
              <a:avLst/>
              <a:gdLst/>
              <a:ahLst/>
              <a:cxnLst/>
              <a:rect l="l" t="t" r="r" b="b"/>
              <a:pathLst>
                <a:path w="1505331" h="1505585">
                  <a:moveTo>
                    <a:pt x="0" y="0"/>
                  </a:moveTo>
                  <a:lnTo>
                    <a:pt x="1505331" y="0"/>
                  </a:lnTo>
                  <a:lnTo>
                    <a:pt x="1505331" y="1505585"/>
                  </a:lnTo>
                  <a:lnTo>
                    <a:pt x="0" y="150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r="-8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61790" y="6103296"/>
            <a:ext cx="4857159" cy="36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Medium-Term (3-12 Months)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61790" y="6535493"/>
            <a:ext cx="1427306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100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Deploy Machine Learning models for Predictive Churn Detection, enabling proactive intervention for at-risk customers.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52998" y="7515377"/>
            <a:ext cx="1128998" cy="1129189"/>
            <a:chOff x="0" y="0"/>
            <a:chExt cx="1505331" cy="1505585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505331" cy="1505585"/>
            </a:xfrm>
            <a:custGeom>
              <a:avLst/>
              <a:gdLst/>
              <a:ahLst/>
              <a:cxnLst/>
              <a:rect l="l" t="t" r="r" b="b"/>
              <a:pathLst>
                <a:path w="1505331" h="1505585">
                  <a:moveTo>
                    <a:pt x="0" y="0"/>
                  </a:moveTo>
                  <a:lnTo>
                    <a:pt x="1505331" y="0"/>
                  </a:lnTo>
                  <a:lnTo>
                    <a:pt x="1505331" y="1505585"/>
                  </a:lnTo>
                  <a:lnTo>
                    <a:pt x="0" y="150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" r="-8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661790" y="7458227"/>
            <a:ext cx="4164654" cy="36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 dirty="0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Long-Term (12 Months+)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61790" y="7890424"/>
            <a:ext cx="1427306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100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Execute a full migration to a live Spark/Databricks pipeline, facilitating real-time personalization and advanced analytics capabilities.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27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2000" y="175677"/>
            <a:ext cx="2970162" cy="466100"/>
            <a:chOff x="0" y="0"/>
            <a:chExt cx="2186381" cy="294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6432" cy="294513"/>
            </a:xfrm>
            <a:custGeom>
              <a:avLst/>
              <a:gdLst/>
              <a:ahLst/>
              <a:cxnLst/>
              <a:rect l="l" t="t" r="r" b="b"/>
              <a:pathLst>
                <a:path w="2186432" h="294513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2122932" y="0"/>
                  </a:lnTo>
                  <a:cubicBezTo>
                    <a:pt x="2157984" y="0"/>
                    <a:pt x="2186432" y="28448"/>
                    <a:pt x="2186432" y="63500"/>
                  </a:cubicBezTo>
                  <a:lnTo>
                    <a:pt x="2186432" y="231013"/>
                  </a:lnTo>
                  <a:cubicBezTo>
                    <a:pt x="2186432" y="266065"/>
                    <a:pt x="2157984" y="294513"/>
                    <a:pt x="2122932" y="294513"/>
                  </a:cubicBezTo>
                  <a:lnTo>
                    <a:pt x="63500" y="294513"/>
                  </a:lnTo>
                  <a:cubicBezTo>
                    <a:pt x="28448" y="294513"/>
                    <a:pt x="0" y="266065"/>
                    <a:pt x="0" y="231013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374709"/>
            <a:ext cx="3810000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ANALYTICS 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8588" y="769161"/>
            <a:ext cx="10469440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RFM Analysis: Unlocking Customer Value</a:t>
            </a:r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pPr algn="l"/>
            <a:r>
              <a:rPr lang="en-US" sz="2000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We employed a robust RFM (Recency, Frequency, Monetary) analysis framework to segment customers, ensuring a data-driven approach to understanding their value and behavior.</a:t>
            </a:r>
          </a:p>
          <a:p>
            <a:pPr algn="l"/>
            <a:endParaRPr lang="en-US" sz="2000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r>
              <a:rPr lang="en-US" sz="20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Analytical Framework</a:t>
            </a:r>
          </a:p>
          <a:p>
            <a:pPr marL="128251" lvl="1" indent="-64125">
              <a:buFont typeface="Arial"/>
              <a:buChar char="•"/>
            </a:pPr>
            <a:r>
              <a:rPr lang="en-US" sz="2000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Our analytical framework moves from generic observations to specific behavioral intelligence by addressing key business questions:</a:t>
            </a:r>
          </a:p>
          <a:p>
            <a:pPr marL="64126" lvl="1"/>
            <a:r>
              <a:rPr lang="en-US" sz="2000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		Customer Lifetime Value, Retention Risk, Purchasing Velocity</a:t>
            </a:r>
          </a:p>
          <a:p>
            <a:endParaRPr lang="en-US" sz="2000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  <a:p>
            <a:pPr algn="l"/>
            <a:endParaRPr lang="en-US" sz="2000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0847490" y="1729568"/>
            <a:ext cx="7211910" cy="4937931"/>
            <a:chOff x="0" y="0"/>
            <a:chExt cx="7569060" cy="4029151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569073" cy="4029202"/>
            </a:xfrm>
            <a:custGeom>
              <a:avLst/>
              <a:gdLst/>
              <a:ahLst/>
              <a:cxnLst/>
              <a:rect l="l" t="t" r="r" b="b"/>
              <a:pathLst>
                <a:path w="7569073" h="4029202">
                  <a:moveTo>
                    <a:pt x="0" y="0"/>
                  </a:moveTo>
                  <a:lnTo>
                    <a:pt x="7569073" y="0"/>
                  </a:lnTo>
                  <a:lnTo>
                    <a:pt x="7569073" y="4029202"/>
                  </a:lnTo>
                  <a:lnTo>
                    <a:pt x="0" y="4029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r="-25" b="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902" y="3486597"/>
            <a:ext cx="224417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20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Techniques</a:t>
            </a: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 </a:t>
            </a:r>
            <a:r>
              <a:rPr lang="en-US" sz="20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Used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23967" y="3996201"/>
            <a:ext cx="4840280" cy="3091346"/>
            <a:chOff x="0" y="0"/>
            <a:chExt cx="4294619" cy="3519526"/>
          </a:xfrm>
        </p:grpSpPr>
        <p:sp>
          <p:nvSpPr>
            <p:cNvPr id="18" name="Freeform 18"/>
            <p:cNvSpPr/>
            <p:nvPr/>
          </p:nvSpPr>
          <p:spPr>
            <a:xfrm>
              <a:off x="5080" y="5080"/>
              <a:ext cx="4284472" cy="3509391"/>
            </a:xfrm>
            <a:custGeom>
              <a:avLst/>
              <a:gdLst/>
              <a:ahLst/>
              <a:cxnLst/>
              <a:rect l="l" t="t" r="r" b="b"/>
              <a:pathLst>
                <a:path w="4284472" h="3509391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4205097" y="0"/>
                  </a:lnTo>
                  <a:cubicBezTo>
                    <a:pt x="4248912" y="0"/>
                    <a:pt x="4284472" y="35560"/>
                    <a:pt x="4284472" y="79375"/>
                  </a:cubicBezTo>
                  <a:lnTo>
                    <a:pt x="4284472" y="3430016"/>
                  </a:lnTo>
                  <a:cubicBezTo>
                    <a:pt x="4284472" y="3473831"/>
                    <a:pt x="4248912" y="3509391"/>
                    <a:pt x="4205097" y="3509391"/>
                  </a:cubicBezTo>
                  <a:lnTo>
                    <a:pt x="79375" y="3509391"/>
                  </a:lnTo>
                  <a:cubicBezTo>
                    <a:pt x="35560" y="3509391"/>
                    <a:pt x="0" y="3473831"/>
                    <a:pt x="0" y="3430016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4294632" cy="3519551"/>
            </a:xfrm>
            <a:custGeom>
              <a:avLst/>
              <a:gdLst/>
              <a:ahLst/>
              <a:cxnLst/>
              <a:rect l="l" t="t" r="r" b="b"/>
              <a:pathLst>
                <a:path w="4294632" h="3519551">
                  <a:moveTo>
                    <a:pt x="0" y="84455"/>
                  </a:moveTo>
                  <a:cubicBezTo>
                    <a:pt x="0" y="37846"/>
                    <a:pt x="37846" y="0"/>
                    <a:pt x="84455" y="0"/>
                  </a:cubicBezTo>
                  <a:lnTo>
                    <a:pt x="4210177" y="0"/>
                  </a:lnTo>
                  <a:lnTo>
                    <a:pt x="4210177" y="5080"/>
                  </a:lnTo>
                  <a:lnTo>
                    <a:pt x="4210177" y="0"/>
                  </a:lnTo>
                  <a:cubicBezTo>
                    <a:pt x="4256786" y="0"/>
                    <a:pt x="4294632" y="37846"/>
                    <a:pt x="4294632" y="84455"/>
                  </a:cubicBezTo>
                  <a:lnTo>
                    <a:pt x="4289552" y="84455"/>
                  </a:lnTo>
                  <a:lnTo>
                    <a:pt x="4294632" y="84455"/>
                  </a:lnTo>
                  <a:lnTo>
                    <a:pt x="4294632" y="3435096"/>
                  </a:lnTo>
                  <a:lnTo>
                    <a:pt x="4289552" y="3435096"/>
                  </a:lnTo>
                  <a:lnTo>
                    <a:pt x="4294632" y="3435096"/>
                  </a:lnTo>
                  <a:cubicBezTo>
                    <a:pt x="4294632" y="3481705"/>
                    <a:pt x="4256786" y="3519551"/>
                    <a:pt x="4210177" y="3519551"/>
                  </a:cubicBezTo>
                  <a:lnTo>
                    <a:pt x="4210177" y="3514471"/>
                  </a:lnTo>
                  <a:lnTo>
                    <a:pt x="4210177" y="3519551"/>
                  </a:lnTo>
                  <a:lnTo>
                    <a:pt x="84455" y="3519551"/>
                  </a:lnTo>
                  <a:lnTo>
                    <a:pt x="84455" y="3514471"/>
                  </a:lnTo>
                  <a:lnTo>
                    <a:pt x="84455" y="3519551"/>
                  </a:lnTo>
                  <a:cubicBezTo>
                    <a:pt x="37846" y="3519551"/>
                    <a:pt x="0" y="3481705"/>
                    <a:pt x="0" y="3435096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3435096"/>
                  </a:lnTo>
                  <a:lnTo>
                    <a:pt x="5080" y="3435096"/>
                  </a:lnTo>
                  <a:lnTo>
                    <a:pt x="10160" y="3435096"/>
                  </a:lnTo>
                  <a:cubicBezTo>
                    <a:pt x="10160" y="3476117"/>
                    <a:pt x="43434" y="3509391"/>
                    <a:pt x="84455" y="3509391"/>
                  </a:cubicBezTo>
                  <a:lnTo>
                    <a:pt x="4210177" y="3509391"/>
                  </a:lnTo>
                  <a:cubicBezTo>
                    <a:pt x="4251198" y="3509391"/>
                    <a:pt x="4284472" y="3476117"/>
                    <a:pt x="4284472" y="3435096"/>
                  </a:cubicBezTo>
                  <a:lnTo>
                    <a:pt x="4284472" y="84455"/>
                  </a:lnTo>
                  <a:cubicBezTo>
                    <a:pt x="4284472" y="43434"/>
                    <a:pt x="4251198" y="10160"/>
                    <a:pt x="4210177" y="10160"/>
                  </a:cubicBezTo>
                  <a:lnTo>
                    <a:pt x="84455" y="10160"/>
                  </a:lnTo>
                  <a:lnTo>
                    <a:pt x="84455" y="5080"/>
                  </a:lnTo>
                  <a:lnTo>
                    <a:pt x="84455" y="10160"/>
                  </a:lnTo>
                  <a:cubicBezTo>
                    <a:pt x="43434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6285" y="4344304"/>
            <a:ext cx="4450815" cy="449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RFM Segmentation (Recency, Frequency, Monetary)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3068" y="5163544"/>
            <a:ext cx="455310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8251" lvl="1" indent="-64125" algn="l">
              <a:buFont typeface="Arial"/>
              <a:buChar char="•"/>
            </a:pP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Recency (R): Days elapsed since last purchase, anchored to Jan 1, 2012 snapshot date.</a:t>
            </a:r>
          </a:p>
          <a:p>
            <a:pPr marL="128251" lvl="1" indent="-64125" algn="l">
              <a:buFont typeface="Arial"/>
              <a:buChar char="•"/>
            </a:pP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Frequency (F): Counted unique invoice IDs per customer to measure actual visit counts.</a:t>
            </a:r>
          </a:p>
          <a:p>
            <a:pPr marL="128251" lvl="1" indent="-64125" algn="l">
              <a:buFont typeface="Arial"/>
              <a:buChar char="•"/>
            </a:pP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Monetary (M): Sum of </a:t>
            </a:r>
            <a:r>
              <a:rPr lang="en-US" dirty="0" err="1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line_total</a:t>
            </a: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 (Quantity × Price) for every transaction.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592835" y="3965019"/>
            <a:ext cx="5111223" cy="3169890"/>
            <a:chOff x="0" y="0"/>
            <a:chExt cx="4294619" cy="3519526"/>
          </a:xfrm>
        </p:grpSpPr>
        <p:sp>
          <p:nvSpPr>
            <p:cNvPr id="24" name="Freeform 24"/>
            <p:cNvSpPr/>
            <p:nvPr/>
          </p:nvSpPr>
          <p:spPr>
            <a:xfrm>
              <a:off x="5080" y="5080"/>
              <a:ext cx="4284472" cy="3509391"/>
            </a:xfrm>
            <a:custGeom>
              <a:avLst/>
              <a:gdLst/>
              <a:ahLst/>
              <a:cxnLst/>
              <a:rect l="l" t="t" r="r" b="b"/>
              <a:pathLst>
                <a:path w="4284472" h="3509391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4205097" y="0"/>
                  </a:lnTo>
                  <a:cubicBezTo>
                    <a:pt x="4248912" y="0"/>
                    <a:pt x="4284472" y="35560"/>
                    <a:pt x="4284472" y="79375"/>
                  </a:cubicBezTo>
                  <a:lnTo>
                    <a:pt x="4284472" y="3430016"/>
                  </a:lnTo>
                  <a:cubicBezTo>
                    <a:pt x="4284472" y="3473831"/>
                    <a:pt x="4248912" y="3509391"/>
                    <a:pt x="4205097" y="3509391"/>
                  </a:cubicBezTo>
                  <a:lnTo>
                    <a:pt x="79375" y="3509391"/>
                  </a:lnTo>
                  <a:cubicBezTo>
                    <a:pt x="35560" y="3509391"/>
                    <a:pt x="0" y="3473831"/>
                    <a:pt x="0" y="3430016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4294632" cy="3519551"/>
            </a:xfrm>
            <a:custGeom>
              <a:avLst/>
              <a:gdLst/>
              <a:ahLst/>
              <a:cxnLst/>
              <a:rect l="l" t="t" r="r" b="b"/>
              <a:pathLst>
                <a:path w="4294632" h="3519551">
                  <a:moveTo>
                    <a:pt x="0" y="84455"/>
                  </a:moveTo>
                  <a:cubicBezTo>
                    <a:pt x="0" y="37846"/>
                    <a:pt x="37846" y="0"/>
                    <a:pt x="84455" y="0"/>
                  </a:cubicBezTo>
                  <a:lnTo>
                    <a:pt x="4210177" y="0"/>
                  </a:lnTo>
                  <a:lnTo>
                    <a:pt x="4210177" y="5080"/>
                  </a:lnTo>
                  <a:lnTo>
                    <a:pt x="4210177" y="0"/>
                  </a:lnTo>
                  <a:cubicBezTo>
                    <a:pt x="4256786" y="0"/>
                    <a:pt x="4294632" y="37846"/>
                    <a:pt x="4294632" y="84455"/>
                  </a:cubicBezTo>
                  <a:lnTo>
                    <a:pt x="4289552" y="84455"/>
                  </a:lnTo>
                  <a:lnTo>
                    <a:pt x="4294632" y="84455"/>
                  </a:lnTo>
                  <a:lnTo>
                    <a:pt x="4294632" y="3435096"/>
                  </a:lnTo>
                  <a:lnTo>
                    <a:pt x="4289552" y="3435096"/>
                  </a:lnTo>
                  <a:lnTo>
                    <a:pt x="4294632" y="3435096"/>
                  </a:lnTo>
                  <a:cubicBezTo>
                    <a:pt x="4294632" y="3481705"/>
                    <a:pt x="4256786" y="3519551"/>
                    <a:pt x="4210177" y="3519551"/>
                  </a:cubicBezTo>
                  <a:lnTo>
                    <a:pt x="4210177" y="3514471"/>
                  </a:lnTo>
                  <a:lnTo>
                    <a:pt x="4210177" y="3519551"/>
                  </a:lnTo>
                  <a:lnTo>
                    <a:pt x="84455" y="3519551"/>
                  </a:lnTo>
                  <a:lnTo>
                    <a:pt x="84455" y="3514471"/>
                  </a:lnTo>
                  <a:lnTo>
                    <a:pt x="84455" y="3519551"/>
                  </a:lnTo>
                  <a:cubicBezTo>
                    <a:pt x="37846" y="3519551"/>
                    <a:pt x="0" y="3481705"/>
                    <a:pt x="0" y="3435096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3435096"/>
                  </a:lnTo>
                  <a:lnTo>
                    <a:pt x="5080" y="3435096"/>
                  </a:lnTo>
                  <a:lnTo>
                    <a:pt x="10160" y="3435096"/>
                  </a:lnTo>
                  <a:cubicBezTo>
                    <a:pt x="10160" y="3476117"/>
                    <a:pt x="43434" y="3509391"/>
                    <a:pt x="84455" y="3509391"/>
                  </a:cubicBezTo>
                  <a:lnTo>
                    <a:pt x="4210177" y="3509391"/>
                  </a:lnTo>
                  <a:cubicBezTo>
                    <a:pt x="4251198" y="3509391"/>
                    <a:pt x="4284472" y="3476117"/>
                    <a:pt x="4284472" y="3435096"/>
                  </a:cubicBezTo>
                  <a:lnTo>
                    <a:pt x="4284472" y="84455"/>
                  </a:lnTo>
                  <a:cubicBezTo>
                    <a:pt x="4284472" y="43434"/>
                    <a:pt x="4251198" y="10160"/>
                    <a:pt x="4210177" y="10160"/>
                  </a:cubicBezTo>
                  <a:lnTo>
                    <a:pt x="84455" y="10160"/>
                  </a:lnTo>
                  <a:lnTo>
                    <a:pt x="84455" y="5080"/>
                  </a:lnTo>
                  <a:lnTo>
                    <a:pt x="84455" y="10160"/>
                  </a:lnTo>
                  <a:cubicBezTo>
                    <a:pt x="43434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735619" y="4341016"/>
            <a:ext cx="4358245" cy="231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Quintile-Based Ranking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83141" y="5126386"/>
            <a:ext cx="493018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Applied 1-to-5 scoring using statistical distribution (q-cut) to normalize customer behavior for fair comparison.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496974" y="7449886"/>
            <a:ext cx="4863141" cy="1220338"/>
            <a:chOff x="0" y="0"/>
            <a:chExt cx="6484188" cy="1218844"/>
          </a:xfrm>
        </p:grpSpPr>
        <p:sp>
          <p:nvSpPr>
            <p:cNvPr id="34" name="Freeform 34"/>
            <p:cNvSpPr/>
            <p:nvPr/>
          </p:nvSpPr>
          <p:spPr>
            <a:xfrm>
              <a:off x="5080" y="5080"/>
              <a:ext cx="6473952" cy="1208659"/>
            </a:xfrm>
            <a:custGeom>
              <a:avLst/>
              <a:gdLst/>
              <a:ahLst/>
              <a:cxnLst/>
              <a:rect l="l" t="t" r="r" b="b"/>
              <a:pathLst>
                <a:path w="6473952" h="1208659">
                  <a:moveTo>
                    <a:pt x="0" y="79375"/>
                  </a:moveTo>
                  <a:cubicBezTo>
                    <a:pt x="0" y="35560"/>
                    <a:pt x="35814" y="0"/>
                    <a:pt x="79883" y="0"/>
                  </a:cubicBezTo>
                  <a:lnTo>
                    <a:pt x="6394069" y="0"/>
                  </a:lnTo>
                  <a:cubicBezTo>
                    <a:pt x="6438265" y="0"/>
                    <a:pt x="6473952" y="35560"/>
                    <a:pt x="6473952" y="79375"/>
                  </a:cubicBezTo>
                  <a:lnTo>
                    <a:pt x="6473952" y="1129284"/>
                  </a:lnTo>
                  <a:cubicBezTo>
                    <a:pt x="6473952" y="1173099"/>
                    <a:pt x="6438138" y="1208659"/>
                    <a:pt x="6394069" y="1208659"/>
                  </a:cubicBezTo>
                  <a:lnTo>
                    <a:pt x="79883" y="1208659"/>
                  </a:lnTo>
                  <a:cubicBezTo>
                    <a:pt x="35814" y="1208659"/>
                    <a:pt x="0" y="1173099"/>
                    <a:pt x="0" y="1129284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6484112" cy="1218819"/>
            </a:xfrm>
            <a:custGeom>
              <a:avLst/>
              <a:gdLst/>
              <a:ahLst/>
              <a:cxnLst/>
              <a:rect l="l" t="t" r="r" b="b"/>
              <a:pathLst>
                <a:path w="6484112" h="1218819">
                  <a:moveTo>
                    <a:pt x="0" y="84455"/>
                  </a:moveTo>
                  <a:cubicBezTo>
                    <a:pt x="0" y="37846"/>
                    <a:pt x="38100" y="0"/>
                    <a:pt x="84963" y="0"/>
                  </a:cubicBezTo>
                  <a:lnTo>
                    <a:pt x="6399149" y="0"/>
                  </a:lnTo>
                  <a:lnTo>
                    <a:pt x="6399149" y="5080"/>
                  </a:lnTo>
                  <a:lnTo>
                    <a:pt x="6399149" y="0"/>
                  </a:lnTo>
                  <a:cubicBezTo>
                    <a:pt x="6446012" y="0"/>
                    <a:pt x="6484112" y="37846"/>
                    <a:pt x="6484112" y="84455"/>
                  </a:cubicBezTo>
                  <a:lnTo>
                    <a:pt x="6479032" y="84455"/>
                  </a:lnTo>
                  <a:lnTo>
                    <a:pt x="6484112" y="84455"/>
                  </a:lnTo>
                  <a:lnTo>
                    <a:pt x="6484112" y="1134364"/>
                  </a:lnTo>
                  <a:lnTo>
                    <a:pt x="6479032" y="1134364"/>
                  </a:lnTo>
                  <a:lnTo>
                    <a:pt x="6484112" y="1134364"/>
                  </a:lnTo>
                  <a:cubicBezTo>
                    <a:pt x="6484112" y="1181100"/>
                    <a:pt x="6446012" y="1218819"/>
                    <a:pt x="6399149" y="1218819"/>
                  </a:cubicBezTo>
                  <a:lnTo>
                    <a:pt x="6399149" y="1213739"/>
                  </a:lnTo>
                  <a:lnTo>
                    <a:pt x="6399149" y="1218819"/>
                  </a:lnTo>
                  <a:lnTo>
                    <a:pt x="84963" y="1218819"/>
                  </a:lnTo>
                  <a:lnTo>
                    <a:pt x="84963" y="1213739"/>
                  </a:lnTo>
                  <a:lnTo>
                    <a:pt x="84963" y="1218819"/>
                  </a:lnTo>
                  <a:cubicBezTo>
                    <a:pt x="38100" y="1218819"/>
                    <a:pt x="0" y="1181100"/>
                    <a:pt x="0" y="1134364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1134364"/>
                  </a:lnTo>
                  <a:lnTo>
                    <a:pt x="5080" y="1134364"/>
                  </a:lnTo>
                  <a:lnTo>
                    <a:pt x="10160" y="1134364"/>
                  </a:lnTo>
                  <a:cubicBezTo>
                    <a:pt x="10160" y="1175385"/>
                    <a:pt x="43688" y="1208659"/>
                    <a:pt x="84963" y="1208659"/>
                  </a:cubicBezTo>
                  <a:lnTo>
                    <a:pt x="6399149" y="1208659"/>
                  </a:lnTo>
                  <a:cubicBezTo>
                    <a:pt x="6440551" y="1208659"/>
                    <a:pt x="6473952" y="1175385"/>
                    <a:pt x="6473952" y="1134364"/>
                  </a:cubicBezTo>
                  <a:lnTo>
                    <a:pt x="6473952" y="84455"/>
                  </a:lnTo>
                  <a:cubicBezTo>
                    <a:pt x="6473952" y="43434"/>
                    <a:pt x="6440424" y="10160"/>
                    <a:pt x="6399149" y="10160"/>
                  </a:cubicBezTo>
                  <a:lnTo>
                    <a:pt x="84963" y="10160"/>
                  </a:lnTo>
                  <a:lnTo>
                    <a:pt x="84963" y="5080"/>
                  </a:lnTo>
                  <a:lnTo>
                    <a:pt x="84963" y="10160"/>
                  </a:lnTo>
                  <a:cubicBezTo>
                    <a:pt x="43688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03069" y="7505262"/>
            <a:ext cx="177194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Cohort Tagging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3069" y="7769133"/>
            <a:ext cx="4553102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Logic to distinguish "New" vs "Existing" users per month to evaluate acquisition vs. retention efficacy.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592645" y="7455467"/>
            <a:ext cx="5111239" cy="1237981"/>
            <a:chOff x="0" y="0"/>
            <a:chExt cx="6484188" cy="1218844"/>
          </a:xfrm>
        </p:grpSpPr>
        <p:sp>
          <p:nvSpPr>
            <p:cNvPr id="39" name="Freeform 39"/>
            <p:cNvSpPr/>
            <p:nvPr/>
          </p:nvSpPr>
          <p:spPr>
            <a:xfrm>
              <a:off x="5080" y="5080"/>
              <a:ext cx="6473952" cy="1208659"/>
            </a:xfrm>
            <a:custGeom>
              <a:avLst/>
              <a:gdLst/>
              <a:ahLst/>
              <a:cxnLst/>
              <a:rect l="l" t="t" r="r" b="b"/>
              <a:pathLst>
                <a:path w="6473952" h="1208659">
                  <a:moveTo>
                    <a:pt x="0" y="79375"/>
                  </a:moveTo>
                  <a:cubicBezTo>
                    <a:pt x="0" y="35560"/>
                    <a:pt x="35814" y="0"/>
                    <a:pt x="79883" y="0"/>
                  </a:cubicBezTo>
                  <a:lnTo>
                    <a:pt x="6394069" y="0"/>
                  </a:lnTo>
                  <a:cubicBezTo>
                    <a:pt x="6438265" y="0"/>
                    <a:pt x="6473952" y="35560"/>
                    <a:pt x="6473952" y="79375"/>
                  </a:cubicBezTo>
                  <a:lnTo>
                    <a:pt x="6473952" y="1129284"/>
                  </a:lnTo>
                  <a:cubicBezTo>
                    <a:pt x="6473952" y="1173099"/>
                    <a:pt x="6438138" y="1208659"/>
                    <a:pt x="6394069" y="1208659"/>
                  </a:cubicBezTo>
                  <a:lnTo>
                    <a:pt x="79883" y="1208659"/>
                  </a:lnTo>
                  <a:cubicBezTo>
                    <a:pt x="35814" y="1208659"/>
                    <a:pt x="0" y="1173099"/>
                    <a:pt x="0" y="1129284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6484112" cy="1218819"/>
            </a:xfrm>
            <a:custGeom>
              <a:avLst/>
              <a:gdLst/>
              <a:ahLst/>
              <a:cxnLst/>
              <a:rect l="l" t="t" r="r" b="b"/>
              <a:pathLst>
                <a:path w="6484112" h="1218819">
                  <a:moveTo>
                    <a:pt x="0" y="84455"/>
                  </a:moveTo>
                  <a:cubicBezTo>
                    <a:pt x="0" y="37846"/>
                    <a:pt x="38100" y="0"/>
                    <a:pt x="84963" y="0"/>
                  </a:cubicBezTo>
                  <a:lnTo>
                    <a:pt x="6399149" y="0"/>
                  </a:lnTo>
                  <a:lnTo>
                    <a:pt x="6399149" y="5080"/>
                  </a:lnTo>
                  <a:lnTo>
                    <a:pt x="6399149" y="0"/>
                  </a:lnTo>
                  <a:cubicBezTo>
                    <a:pt x="6446012" y="0"/>
                    <a:pt x="6484112" y="37846"/>
                    <a:pt x="6484112" y="84455"/>
                  </a:cubicBezTo>
                  <a:lnTo>
                    <a:pt x="6479032" y="84455"/>
                  </a:lnTo>
                  <a:lnTo>
                    <a:pt x="6484112" y="84455"/>
                  </a:lnTo>
                  <a:lnTo>
                    <a:pt x="6484112" y="1134364"/>
                  </a:lnTo>
                  <a:lnTo>
                    <a:pt x="6479032" y="1134364"/>
                  </a:lnTo>
                  <a:lnTo>
                    <a:pt x="6484112" y="1134364"/>
                  </a:lnTo>
                  <a:cubicBezTo>
                    <a:pt x="6484112" y="1181100"/>
                    <a:pt x="6446012" y="1218819"/>
                    <a:pt x="6399149" y="1218819"/>
                  </a:cubicBezTo>
                  <a:lnTo>
                    <a:pt x="6399149" y="1213739"/>
                  </a:lnTo>
                  <a:lnTo>
                    <a:pt x="6399149" y="1218819"/>
                  </a:lnTo>
                  <a:lnTo>
                    <a:pt x="84963" y="1218819"/>
                  </a:lnTo>
                  <a:lnTo>
                    <a:pt x="84963" y="1213739"/>
                  </a:lnTo>
                  <a:lnTo>
                    <a:pt x="84963" y="1218819"/>
                  </a:lnTo>
                  <a:cubicBezTo>
                    <a:pt x="38100" y="1218819"/>
                    <a:pt x="0" y="1181100"/>
                    <a:pt x="0" y="1134364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1134364"/>
                  </a:lnTo>
                  <a:lnTo>
                    <a:pt x="5080" y="1134364"/>
                  </a:lnTo>
                  <a:lnTo>
                    <a:pt x="10160" y="1134364"/>
                  </a:lnTo>
                  <a:cubicBezTo>
                    <a:pt x="10160" y="1175385"/>
                    <a:pt x="43688" y="1208659"/>
                    <a:pt x="84963" y="1208659"/>
                  </a:cubicBezTo>
                  <a:lnTo>
                    <a:pt x="6399149" y="1208659"/>
                  </a:lnTo>
                  <a:cubicBezTo>
                    <a:pt x="6440551" y="1208659"/>
                    <a:pt x="6473952" y="1175385"/>
                    <a:pt x="6473952" y="1134364"/>
                  </a:cubicBezTo>
                  <a:lnTo>
                    <a:pt x="6473952" y="84455"/>
                  </a:lnTo>
                  <a:cubicBezTo>
                    <a:pt x="6473952" y="43434"/>
                    <a:pt x="6440424" y="10160"/>
                    <a:pt x="6399149" y="10160"/>
                  </a:cubicBezTo>
                  <a:lnTo>
                    <a:pt x="84963" y="10160"/>
                  </a:lnTo>
                  <a:lnTo>
                    <a:pt x="84963" y="5080"/>
                  </a:lnTo>
                  <a:lnTo>
                    <a:pt x="84963" y="10160"/>
                  </a:lnTo>
                  <a:cubicBezTo>
                    <a:pt x="43688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71485" y="7528866"/>
            <a:ext cx="2648693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Anomaly Neutralization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71485" y="7792737"/>
            <a:ext cx="4553102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Isolated and removed negative quantities, zero-price entries, and missing Customer IDs to ensure data integrity.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7635" y="8763212"/>
            <a:ext cx="4983213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2000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Analytical Rigor &amp; Validation Protocol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3967" y="9043627"/>
            <a:ext cx="160782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8251" lvl="1" indent="-64125" algn="l">
              <a:buFont typeface="Arial"/>
              <a:buChar char="•"/>
            </a:pPr>
            <a:r>
              <a:rPr lang="en-US" sz="2000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Outlier Management: Applied 85th-percentile filtering to prevent extreme data points from skewing metrics.</a:t>
            </a:r>
          </a:p>
          <a:p>
            <a:pPr marL="128251" lvl="1" indent="-64125" algn="l">
              <a:buFont typeface="Arial"/>
              <a:buChar char="•"/>
            </a:pPr>
            <a:r>
              <a:rPr lang="en-US" sz="2000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Data Integrity: Addressed 19,000+ cancellations (prefixed with 'C') by subtracting them from placed order counts.</a:t>
            </a:r>
          </a:p>
          <a:p>
            <a:pPr marL="128251" lvl="1" indent="-64125" algn="l">
              <a:buFont typeface="Arial"/>
              <a:buChar char="•"/>
            </a:pPr>
            <a:r>
              <a:rPr lang="en-US" sz="2000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Standardized Benchmarks: Every insight based on clearly described calculations across 1M+ rows of cleaned data.</a:t>
            </a:r>
          </a:p>
          <a:p>
            <a:pPr marL="128251" lvl="1" indent="-64125" algn="l">
              <a:buFont typeface="Arial"/>
              <a:buChar char="•"/>
            </a:pPr>
            <a:r>
              <a:rPr lang="en-US" sz="2000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Reproducibility: Entire process managed within a containerized Docker environment for zero-variation replication.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800" y="424786"/>
            <a:ext cx="3276600" cy="448840"/>
            <a:chOff x="0" y="0"/>
            <a:chExt cx="2538019" cy="294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37968" cy="294513"/>
            </a:xfrm>
            <a:custGeom>
              <a:avLst/>
              <a:gdLst/>
              <a:ahLst/>
              <a:cxnLst/>
              <a:rect l="l" t="t" r="r" b="b"/>
              <a:pathLst>
                <a:path w="2537968" h="294513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2474468" y="0"/>
                  </a:lnTo>
                  <a:cubicBezTo>
                    <a:pt x="2509520" y="0"/>
                    <a:pt x="2537968" y="28448"/>
                    <a:pt x="2537968" y="63500"/>
                  </a:cubicBezTo>
                  <a:lnTo>
                    <a:pt x="2537968" y="231013"/>
                  </a:lnTo>
                  <a:cubicBezTo>
                    <a:pt x="2537968" y="266065"/>
                    <a:pt x="2509520" y="294513"/>
                    <a:pt x="2474468" y="294513"/>
                  </a:cubicBezTo>
                  <a:lnTo>
                    <a:pt x="63500" y="294513"/>
                  </a:lnTo>
                  <a:cubicBezTo>
                    <a:pt x="28448" y="294513"/>
                    <a:pt x="0" y="266065"/>
                    <a:pt x="0" y="231013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0100" y="565850"/>
            <a:ext cx="3771900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STRATEGIC RECOMMENDATIONS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944055"/>
            <a:ext cx="9692726" cy="38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Strategic Roadmap for Sustainable Growth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43893" y="1404460"/>
            <a:ext cx="4607849" cy="5796439"/>
            <a:chOff x="0" y="0"/>
            <a:chExt cx="4294619" cy="5277485"/>
          </a:xfrm>
        </p:grpSpPr>
        <p:sp>
          <p:nvSpPr>
            <p:cNvPr id="11" name="Freeform 11"/>
            <p:cNvSpPr/>
            <p:nvPr/>
          </p:nvSpPr>
          <p:spPr>
            <a:xfrm>
              <a:off x="5080" y="5080"/>
              <a:ext cx="4284472" cy="5267325"/>
            </a:xfrm>
            <a:custGeom>
              <a:avLst/>
              <a:gdLst/>
              <a:ahLst/>
              <a:cxnLst/>
              <a:rect l="l" t="t" r="r" b="b"/>
              <a:pathLst>
                <a:path w="4284472" h="5267325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4205097" y="0"/>
                  </a:lnTo>
                  <a:cubicBezTo>
                    <a:pt x="4248912" y="0"/>
                    <a:pt x="4284472" y="35560"/>
                    <a:pt x="4284472" y="79375"/>
                  </a:cubicBezTo>
                  <a:lnTo>
                    <a:pt x="4284472" y="5187950"/>
                  </a:lnTo>
                  <a:cubicBezTo>
                    <a:pt x="4284472" y="5231765"/>
                    <a:pt x="4248912" y="5267325"/>
                    <a:pt x="4205097" y="5267325"/>
                  </a:cubicBezTo>
                  <a:lnTo>
                    <a:pt x="79375" y="5267325"/>
                  </a:lnTo>
                  <a:cubicBezTo>
                    <a:pt x="35560" y="5267325"/>
                    <a:pt x="0" y="5231765"/>
                    <a:pt x="0" y="5187950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4294632" cy="5277485"/>
            </a:xfrm>
            <a:custGeom>
              <a:avLst/>
              <a:gdLst/>
              <a:ahLst/>
              <a:cxnLst/>
              <a:rect l="l" t="t" r="r" b="b"/>
              <a:pathLst>
                <a:path w="4294632" h="5277485">
                  <a:moveTo>
                    <a:pt x="0" y="84455"/>
                  </a:moveTo>
                  <a:cubicBezTo>
                    <a:pt x="0" y="37846"/>
                    <a:pt x="37846" y="0"/>
                    <a:pt x="84455" y="0"/>
                  </a:cubicBezTo>
                  <a:lnTo>
                    <a:pt x="4210177" y="0"/>
                  </a:lnTo>
                  <a:lnTo>
                    <a:pt x="4210177" y="5080"/>
                  </a:lnTo>
                  <a:lnTo>
                    <a:pt x="4210177" y="0"/>
                  </a:lnTo>
                  <a:cubicBezTo>
                    <a:pt x="4256786" y="0"/>
                    <a:pt x="4294632" y="37846"/>
                    <a:pt x="4294632" y="84455"/>
                  </a:cubicBezTo>
                  <a:lnTo>
                    <a:pt x="4289552" y="84455"/>
                  </a:lnTo>
                  <a:lnTo>
                    <a:pt x="4294632" y="84455"/>
                  </a:lnTo>
                  <a:lnTo>
                    <a:pt x="4294632" y="5193030"/>
                  </a:lnTo>
                  <a:lnTo>
                    <a:pt x="4289552" y="5193030"/>
                  </a:lnTo>
                  <a:lnTo>
                    <a:pt x="4294632" y="5193030"/>
                  </a:lnTo>
                  <a:cubicBezTo>
                    <a:pt x="4294632" y="5239639"/>
                    <a:pt x="4256786" y="5277485"/>
                    <a:pt x="4210177" y="5277485"/>
                  </a:cubicBezTo>
                  <a:lnTo>
                    <a:pt x="4210177" y="5272405"/>
                  </a:lnTo>
                  <a:lnTo>
                    <a:pt x="4210177" y="5277485"/>
                  </a:lnTo>
                  <a:lnTo>
                    <a:pt x="84455" y="5277485"/>
                  </a:lnTo>
                  <a:lnTo>
                    <a:pt x="84455" y="5272405"/>
                  </a:lnTo>
                  <a:lnTo>
                    <a:pt x="84455" y="5277485"/>
                  </a:lnTo>
                  <a:cubicBezTo>
                    <a:pt x="37846" y="5277485"/>
                    <a:pt x="0" y="5239639"/>
                    <a:pt x="0" y="5193030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5193030"/>
                  </a:lnTo>
                  <a:lnTo>
                    <a:pt x="5080" y="5193030"/>
                  </a:lnTo>
                  <a:lnTo>
                    <a:pt x="10160" y="5193030"/>
                  </a:lnTo>
                  <a:cubicBezTo>
                    <a:pt x="10160" y="5234051"/>
                    <a:pt x="43434" y="5267325"/>
                    <a:pt x="84455" y="5267325"/>
                  </a:cubicBezTo>
                  <a:lnTo>
                    <a:pt x="4210177" y="5267325"/>
                  </a:lnTo>
                  <a:cubicBezTo>
                    <a:pt x="4251198" y="5267325"/>
                    <a:pt x="4284472" y="5234051"/>
                    <a:pt x="4284472" y="5193030"/>
                  </a:cubicBezTo>
                  <a:lnTo>
                    <a:pt x="4284472" y="84455"/>
                  </a:lnTo>
                  <a:cubicBezTo>
                    <a:pt x="4284472" y="43434"/>
                    <a:pt x="4251198" y="10160"/>
                    <a:pt x="4210177" y="10160"/>
                  </a:cubicBezTo>
                  <a:lnTo>
                    <a:pt x="84455" y="10160"/>
                  </a:lnTo>
                  <a:lnTo>
                    <a:pt x="84455" y="5080"/>
                  </a:lnTo>
                  <a:lnTo>
                    <a:pt x="84455" y="10160"/>
                  </a:lnTo>
                  <a:cubicBezTo>
                    <a:pt x="43434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68604" y="1768360"/>
            <a:ext cx="4477702" cy="5262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AutoNum type="alphaUcPeriod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Customer Strategy: Value-Based Retention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Tiered VIP Engagement: Establish a "White Glove" program for the 852 Champions (Mean Spend: £10,795.52) to protect the core revenue engine. Target a 5–10% increase in LTV for the top tier.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High-Value Churn Recovery: Launch immediate "Win-Back" campaigns for the 71 "Can't Lose" customers to recover their £8,355.68 latent value. Recover approximately £60,000 in dormant revenue in Q1.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Retention Onboarding: Implement automated "Welcome Journeys" for New Customers (Mean Frequency: 1.0) to secure the critical second purchase. Target 10–18% improvement in transition rates from New to Loyal.</a:t>
            </a:r>
          </a:p>
          <a:p>
            <a:pPr algn="l"/>
            <a:endParaRPr lang="en-US" dirty="0">
              <a:sym typeface="Arimo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5561685" y="1350852"/>
            <a:ext cx="5407154" cy="5850047"/>
            <a:chOff x="0" y="0"/>
            <a:chExt cx="4294619" cy="5277485"/>
          </a:xfrm>
        </p:grpSpPr>
        <p:sp>
          <p:nvSpPr>
            <p:cNvPr id="16" name="Freeform 16"/>
            <p:cNvSpPr/>
            <p:nvPr/>
          </p:nvSpPr>
          <p:spPr>
            <a:xfrm>
              <a:off x="5080" y="5080"/>
              <a:ext cx="4284472" cy="5267325"/>
            </a:xfrm>
            <a:custGeom>
              <a:avLst/>
              <a:gdLst/>
              <a:ahLst/>
              <a:cxnLst/>
              <a:rect l="l" t="t" r="r" b="b"/>
              <a:pathLst>
                <a:path w="4284472" h="5267325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4205097" y="0"/>
                  </a:lnTo>
                  <a:cubicBezTo>
                    <a:pt x="4248912" y="0"/>
                    <a:pt x="4284472" y="35560"/>
                    <a:pt x="4284472" y="79375"/>
                  </a:cubicBezTo>
                  <a:lnTo>
                    <a:pt x="4284472" y="5187950"/>
                  </a:lnTo>
                  <a:cubicBezTo>
                    <a:pt x="4284472" y="5231765"/>
                    <a:pt x="4248912" y="5267325"/>
                    <a:pt x="4205097" y="5267325"/>
                  </a:cubicBezTo>
                  <a:lnTo>
                    <a:pt x="79375" y="5267325"/>
                  </a:lnTo>
                  <a:cubicBezTo>
                    <a:pt x="35560" y="5267325"/>
                    <a:pt x="0" y="5231765"/>
                    <a:pt x="0" y="5187950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4294632" cy="5277485"/>
            </a:xfrm>
            <a:custGeom>
              <a:avLst/>
              <a:gdLst/>
              <a:ahLst/>
              <a:cxnLst/>
              <a:rect l="l" t="t" r="r" b="b"/>
              <a:pathLst>
                <a:path w="4294632" h="5277485">
                  <a:moveTo>
                    <a:pt x="0" y="84455"/>
                  </a:moveTo>
                  <a:cubicBezTo>
                    <a:pt x="0" y="37846"/>
                    <a:pt x="37846" y="0"/>
                    <a:pt x="84455" y="0"/>
                  </a:cubicBezTo>
                  <a:lnTo>
                    <a:pt x="4210177" y="0"/>
                  </a:lnTo>
                  <a:lnTo>
                    <a:pt x="4210177" y="5080"/>
                  </a:lnTo>
                  <a:lnTo>
                    <a:pt x="4210177" y="0"/>
                  </a:lnTo>
                  <a:cubicBezTo>
                    <a:pt x="4256786" y="0"/>
                    <a:pt x="4294632" y="37846"/>
                    <a:pt x="4294632" y="84455"/>
                  </a:cubicBezTo>
                  <a:lnTo>
                    <a:pt x="4289552" y="84455"/>
                  </a:lnTo>
                  <a:lnTo>
                    <a:pt x="4294632" y="84455"/>
                  </a:lnTo>
                  <a:lnTo>
                    <a:pt x="4294632" y="5193030"/>
                  </a:lnTo>
                  <a:lnTo>
                    <a:pt x="4289552" y="5193030"/>
                  </a:lnTo>
                  <a:lnTo>
                    <a:pt x="4294632" y="5193030"/>
                  </a:lnTo>
                  <a:cubicBezTo>
                    <a:pt x="4294632" y="5239639"/>
                    <a:pt x="4256786" y="5277485"/>
                    <a:pt x="4210177" y="5277485"/>
                  </a:cubicBezTo>
                  <a:lnTo>
                    <a:pt x="4210177" y="5272405"/>
                  </a:lnTo>
                  <a:lnTo>
                    <a:pt x="4210177" y="5277485"/>
                  </a:lnTo>
                  <a:lnTo>
                    <a:pt x="84455" y="5277485"/>
                  </a:lnTo>
                  <a:lnTo>
                    <a:pt x="84455" y="5272405"/>
                  </a:lnTo>
                  <a:lnTo>
                    <a:pt x="84455" y="5277485"/>
                  </a:lnTo>
                  <a:cubicBezTo>
                    <a:pt x="37846" y="5277485"/>
                    <a:pt x="0" y="5239639"/>
                    <a:pt x="0" y="5193030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5193030"/>
                  </a:lnTo>
                  <a:lnTo>
                    <a:pt x="5080" y="5193030"/>
                  </a:lnTo>
                  <a:lnTo>
                    <a:pt x="10160" y="5193030"/>
                  </a:lnTo>
                  <a:cubicBezTo>
                    <a:pt x="10160" y="5234051"/>
                    <a:pt x="43434" y="5267325"/>
                    <a:pt x="84455" y="5267325"/>
                  </a:cubicBezTo>
                  <a:lnTo>
                    <a:pt x="4210177" y="5267325"/>
                  </a:lnTo>
                  <a:cubicBezTo>
                    <a:pt x="4251198" y="5267325"/>
                    <a:pt x="4284472" y="5234051"/>
                    <a:pt x="4284472" y="5193030"/>
                  </a:cubicBezTo>
                  <a:lnTo>
                    <a:pt x="4284472" y="84455"/>
                  </a:lnTo>
                  <a:cubicBezTo>
                    <a:pt x="4284472" y="43434"/>
                    <a:pt x="4251198" y="10160"/>
                    <a:pt x="4210177" y="10160"/>
                  </a:cubicBezTo>
                  <a:lnTo>
                    <a:pt x="84455" y="10160"/>
                  </a:lnTo>
                  <a:lnTo>
                    <a:pt x="84455" y="5080"/>
                  </a:lnTo>
                  <a:lnTo>
                    <a:pt x="84455" y="10160"/>
                  </a:lnTo>
                  <a:cubicBezTo>
                    <a:pt x="43434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661789" y="1681013"/>
            <a:ext cx="5012771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Projected 15% lift in AOV for mid-tier segments.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Low-Performance Pruning: Use the 85th-percentile filter to identify and reduce stock for SKUs only purchased by Hibernating users. Optimize warehouse space and reduce carrying costs.</a:t>
            </a:r>
          </a:p>
          <a:p>
            <a:pPr algn="l"/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1178784" y="1350851"/>
            <a:ext cx="6652016" cy="5850047"/>
            <a:chOff x="0" y="0"/>
            <a:chExt cx="4294822" cy="5277485"/>
          </a:xfrm>
        </p:grpSpPr>
        <p:sp>
          <p:nvSpPr>
            <p:cNvPr id="21" name="Freeform 21"/>
            <p:cNvSpPr/>
            <p:nvPr/>
          </p:nvSpPr>
          <p:spPr>
            <a:xfrm>
              <a:off x="5080" y="5080"/>
              <a:ext cx="4284599" cy="5267325"/>
            </a:xfrm>
            <a:custGeom>
              <a:avLst/>
              <a:gdLst/>
              <a:ahLst/>
              <a:cxnLst/>
              <a:rect l="l" t="t" r="r" b="b"/>
              <a:pathLst>
                <a:path w="4284599" h="5267325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4205224" y="0"/>
                  </a:lnTo>
                  <a:cubicBezTo>
                    <a:pt x="4249039" y="0"/>
                    <a:pt x="4284599" y="35560"/>
                    <a:pt x="4284599" y="79375"/>
                  </a:cubicBezTo>
                  <a:lnTo>
                    <a:pt x="4284599" y="5187950"/>
                  </a:lnTo>
                  <a:cubicBezTo>
                    <a:pt x="4284599" y="5231765"/>
                    <a:pt x="4249039" y="5267325"/>
                    <a:pt x="4205224" y="5267325"/>
                  </a:cubicBezTo>
                  <a:lnTo>
                    <a:pt x="79375" y="5267325"/>
                  </a:lnTo>
                  <a:cubicBezTo>
                    <a:pt x="35560" y="5267325"/>
                    <a:pt x="0" y="5231765"/>
                    <a:pt x="0" y="5187950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4294759" cy="5277485"/>
            </a:xfrm>
            <a:custGeom>
              <a:avLst/>
              <a:gdLst/>
              <a:ahLst/>
              <a:cxnLst/>
              <a:rect l="l" t="t" r="r" b="b"/>
              <a:pathLst>
                <a:path w="4294759" h="5277485">
                  <a:moveTo>
                    <a:pt x="0" y="84455"/>
                  </a:moveTo>
                  <a:cubicBezTo>
                    <a:pt x="0" y="37846"/>
                    <a:pt x="37846" y="0"/>
                    <a:pt x="84455" y="0"/>
                  </a:cubicBezTo>
                  <a:lnTo>
                    <a:pt x="4210304" y="0"/>
                  </a:lnTo>
                  <a:lnTo>
                    <a:pt x="4210304" y="5080"/>
                  </a:lnTo>
                  <a:lnTo>
                    <a:pt x="4210304" y="0"/>
                  </a:lnTo>
                  <a:cubicBezTo>
                    <a:pt x="4256913" y="0"/>
                    <a:pt x="4294759" y="37846"/>
                    <a:pt x="4294759" y="84455"/>
                  </a:cubicBezTo>
                  <a:lnTo>
                    <a:pt x="4289679" y="84455"/>
                  </a:lnTo>
                  <a:lnTo>
                    <a:pt x="4294759" y="84455"/>
                  </a:lnTo>
                  <a:lnTo>
                    <a:pt x="4294759" y="5193030"/>
                  </a:lnTo>
                  <a:lnTo>
                    <a:pt x="4289679" y="5193030"/>
                  </a:lnTo>
                  <a:lnTo>
                    <a:pt x="4294759" y="5193030"/>
                  </a:lnTo>
                  <a:cubicBezTo>
                    <a:pt x="4294759" y="5239639"/>
                    <a:pt x="4256913" y="5277485"/>
                    <a:pt x="4210304" y="5277485"/>
                  </a:cubicBezTo>
                  <a:lnTo>
                    <a:pt x="4210304" y="5272405"/>
                  </a:lnTo>
                  <a:lnTo>
                    <a:pt x="4210304" y="5277485"/>
                  </a:lnTo>
                  <a:lnTo>
                    <a:pt x="84455" y="5277485"/>
                  </a:lnTo>
                  <a:lnTo>
                    <a:pt x="84455" y="5272405"/>
                  </a:lnTo>
                  <a:lnTo>
                    <a:pt x="84455" y="5277485"/>
                  </a:lnTo>
                  <a:cubicBezTo>
                    <a:pt x="37846" y="5277485"/>
                    <a:pt x="0" y="5239639"/>
                    <a:pt x="0" y="5193030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5193030"/>
                  </a:lnTo>
                  <a:lnTo>
                    <a:pt x="5080" y="5193030"/>
                  </a:lnTo>
                  <a:lnTo>
                    <a:pt x="10160" y="5193030"/>
                  </a:lnTo>
                  <a:cubicBezTo>
                    <a:pt x="10160" y="5234051"/>
                    <a:pt x="43434" y="5267325"/>
                    <a:pt x="84455" y="5267325"/>
                  </a:cubicBezTo>
                  <a:lnTo>
                    <a:pt x="4210304" y="5267325"/>
                  </a:lnTo>
                  <a:cubicBezTo>
                    <a:pt x="4251325" y="5267325"/>
                    <a:pt x="4284599" y="5234051"/>
                    <a:pt x="4284599" y="5193030"/>
                  </a:cubicBezTo>
                  <a:lnTo>
                    <a:pt x="4284599" y="84455"/>
                  </a:lnTo>
                  <a:cubicBezTo>
                    <a:pt x="4284599" y="43434"/>
                    <a:pt x="4251325" y="10160"/>
                    <a:pt x="4210304" y="10160"/>
                  </a:cubicBezTo>
                  <a:lnTo>
                    <a:pt x="84455" y="10160"/>
                  </a:lnTo>
                  <a:lnTo>
                    <a:pt x="84455" y="5080"/>
                  </a:lnTo>
                  <a:lnTo>
                    <a:pt x="84455" y="10160"/>
                  </a:lnTo>
                  <a:cubicBezTo>
                    <a:pt x="43434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3893" y="7707657"/>
            <a:ext cx="17086809" cy="2247250"/>
            <a:chOff x="0" y="0"/>
            <a:chExt cx="13052666" cy="2191982"/>
          </a:xfrm>
        </p:grpSpPr>
        <p:sp>
          <p:nvSpPr>
            <p:cNvPr id="26" name="Freeform 26"/>
            <p:cNvSpPr/>
            <p:nvPr/>
          </p:nvSpPr>
          <p:spPr>
            <a:xfrm>
              <a:off x="5080" y="5080"/>
              <a:ext cx="13042519" cy="2181860"/>
            </a:xfrm>
            <a:custGeom>
              <a:avLst/>
              <a:gdLst/>
              <a:ahLst/>
              <a:cxnLst/>
              <a:rect l="l" t="t" r="r" b="b"/>
              <a:pathLst>
                <a:path w="13042519" h="2181860">
                  <a:moveTo>
                    <a:pt x="0" y="79375"/>
                  </a:moveTo>
                  <a:cubicBezTo>
                    <a:pt x="0" y="35560"/>
                    <a:pt x="35687" y="0"/>
                    <a:pt x="79756" y="0"/>
                  </a:cubicBezTo>
                  <a:lnTo>
                    <a:pt x="12962763" y="0"/>
                  </a:lnTo>
                  <a:cubicBezTo>
                    <a:pt x="13006833" y="0"/>
                    <a:pt x="13042519" y="35560"/>
                    <a:pt x="13042519" y="79375"/>
                  </a:cubicBezTo>
                  <a:lnTo>
                    <a:pt x="13042519" y="2102485"/>
                  </a:lnTo>
                  <a:cubicBezTo>
                    <a:pt x="13042519" y="2146300"/>
                    <a:pt x="13006833" y="2181860"/>
                    <a:pt x="12962763" y="2181860"/>
                  </a:cubicBezTo>
                  <a:lnTo>
                    <a:pt x="79756" y="2181860"/>
                  </a:lnTo>
                  <a:cubicBezTo>
                    <a:pt x="35687" y="2181860"/>
                    <a:pt x="0" y="2146300"/>
                    <a:pt x="0" y="2102485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13052679" cy="2192020"/>
            </a:xfrm>
            <a:custGeom>
              <a:avLst/>
              <a:gdLst/>
              <a:ahLst/>
              <a:cxnLst/>
              <a:rect l="l" t="t" r="r" b="b"/>
              <a:pathLst>
                <a:path w="13052679" h="2192020">
                  <a:moveTo>
                    <a:pt x="0" y="84455"/>
                  </a:moveTo>
                  <a:cubicBezTo>
                    <a:pt x="0" y="37846"/>
                    <a:pt x="37973" y="0"/>
                    <a:pt x="84836" y="0"/>
                  </a:cubicBezTo>
                  <a:lnTo>
                    <a:pt x="12967843" y="0"/>
                  </a:lnTo>
                  <a:lnTo>
                    <a:pt x="12967843" y="5080"/>
                  </a:lnTo>
                  <a:lnTo>
                    <a:pt x="12967843" y="0"/>
                  </a:lnTo>
                  <a:cubicBezTo>
                    <a:pt x="13014706" y="0"/>
                    <a:pt x="13052679" y="37846"/>
                    <a:pt x="13052679" y="84455"/>
                  </a:cubicBezTo>
                  <a:lnTo>
                    <a:pt x="13047599" y="84455"/>
                  </a:lnTo>
                  <a:lnTo>
                    <a:pt x="13052679" y="84455"/>
                  </a:lnTo>
                  <a:lnTo>
                    <a:pt x="13052679" y="2107565"/>
                  </a:lnTo>
                  <a:lnTo>
                    <a:pt x="13047599" y="2107565"/>
                  </a:lnTo>
                  <a:lnTo>
                    <a:pt x="13052679" y="2107565"/>
                  </a:lnTo>
                  <a:cubicBezTo>
                    <a:pt x="13052679" y="2154301"/>
                    <a:pt x="13014706" y="2192020"/>
                    <a:pt x="12967843" y="2192020"/>
                  </a:cubicBezTo>
                  <a:lnTo>
                    <a:pt x="12967843" y="2186940"/>
                  </a:lnTo>
                  <a:lnTo>
                    <a:pt x="12967843" y="2192020"/>
                  </a:lnTo>
                  <a:lnTo>
                    <a:pt x="84836" y="2192020"/>
                  </a:lnTo>
                  <a:lnTo>
                    <a:pt x="84836" y="2186940"/>
                  </a:lnTo>
                  <a:lnTo>
                    <a:pt x="84836" y="2192020"/>
                  </a:lnTo>
                  <a:cubicBezTo>
                    <a:pt x="37973" y="2192020"/>
                    <a:pt x="0" y="2154174"/>
                    <a:pt x="0" y="2107565"/>
                  </a:cubicBezTo>
                  <a:lnTo>
                    <a:pt x="0" y="84455"/>
                  </a:lnTo>
                  <a:lnTo>
                    <a:pt x="5080" y="84455"/>
                  </a:lnTo>
                  <a:lnTo>
                    <a:pt x="0" y="84455"/>
                  </a:lnTo>
                  <a:moveTo>
                    <a:pt x="10160" y="84455"/>
                  </a:moveTo>
                  <a:lnTo>
                    <a:pt x="10160" y="2107565"/>
                  </a:lnTo>
                  <a:lnTo>
                    <a:pt x="5080" y="2107565"/>
                  </a:lnTo>
                  <a:lnTo>
                    <a:pt x="10160" y="2107565"/>
                  </a:lnTo>
                  <a:cubicBezTo>
                    <a:pt x="10160" y="2148586"/>
                    <a:pt x="43561" y="2181860"/>
                    <a:pt x="84836" y="2181860"/>
                  </a:cubicBezTo>
                  <a:lnTo>
                    <a:pt x="12967843" y="2181860"/>
                  </a:lnTo>
                  <a:cubicBezTo>
                    <a:pt x="13009119" y="2181860"/>
                    <a:pt x="13042519" y="2148586"/>
                    <a:pt x="13042519" y="2107565"/>
                  </a:cubicBezTo>
                  <a:lnTo>
                    <a:pt x="13042519" y="84455"/>
                  </a:lnTo>
                  <a:cubicBezTo>
                    <a:pt x="13042519" y="43434"/>
                    <a:pt x="13009119" y="10160"/>
                    <a:pt x="12967843" y="10160"/>
                  </a:cubicBezTo>
                  <a:lnTo>
                    <a:pt x="84836" y="10160"/>
                  </a:lnTo>
                  <a:lnTo>
                    <a:pt x="84836" y="5080"/>
                  </a:lnTo>
                  <a:lnTo>
                    <a:pt x="84836" y="10160"/>
                  </a:lnTo>
                  <a:cubicBezTo>
                    <a:pt x="43561" y="10160"/>
                    <a:pt x="10160" y="43434"/>
                    <a:pt x="10160" y="84455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66800" y="7744163"/>
            <a:ext cx="153924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D. Operational Strategy: Data Integrity &amp; Scalability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Standardized Cancellation Tracking: Modernize the "C" prefix taxonomy in the production database to improve net-revenue forecasting accuracy. Eliminate the £1,383.60 potential skew identified in the "At Risk" segment.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Unified Product Taxonomy: Deploy the </a:t>
            </a:r>
            <a:r>
              <a:rPr lang="en-US" b="1" dirty="0" err="1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Jupyter</a:t>
            </a: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-based cleaning logic to the production SQL Server to standardize product descriptions across 1M+ rows. 20% improvement in cross-categorical analysis accuracy.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Pipeline </a:t>
            </a:r>
            <a:r>
              <a:rPr lang="en-US" b="1" dirty="0" err="1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Productionization</a:t>
            </a: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: Transition the PoC Docker environment to an Azure Data Factory stream for real-time marketing insights. Reduction of manual engineering effort by 20 hours per month.</a:t>
            </a:r>
          </a:p>
          <a:p>
            <a:pPr algn="l"/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3C50D4-CD7D-6B0F-F79B-F5773CBD72BB}"/>
              </a:ext>
            </a:extLst>
          </p:cNvPr>
          <p:cNvSpPr txBox="1"/>
          <p:nvPr/>
        </p:nvSpPr>
        <p:spPr>
          <a:xfrm>
            <a:off x="11164548" y="1567804"/>
            <a:ext cx="58296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C. Geographic Strategy: Market Prioritization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UK-Centric Precision: Focus high-density promotions on high-spending UK regions with growing demand spikes. Improved marketing ROI by reducing broad-market waste.</a:t>
            </a:r>
          </a:p>
          <a:p>
            <a:pPr marL="128251" lvl="1" indent="-64125">
              <a:buFont typeface="Arial"/>
              <a:buChar char="•"/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International Expansion Identification: Isolate the top 5% of non-UK spenders to test localized marketing in those regions. Evidence-based expansion into secondary markets.</a:t>
            </a:r>
          </a:p>
          <a:p>
            <a:pPr algn="l"/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81000" y="31474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9600" y="495300"/>
            <a:ext cx="3657600" cy="557813"/>
            <a:chOff x="-3727844" y="-1395413"/>
            <a:chExt cx="4876800" cy="743751"/>
          </a:xfrm>
        </p:grpSpPr>
        <p:sp>
          <p:nvSpPr>
            <p:cNvPr id="7" name="Freeform 7"/>
            <p:cNvSpPr/>
            <p:nvPr/>
          </p:nvSpPr>
          <p:spPr>
            <a:xfrm>
              <a:off x="-3727844" y="-1395413"/>
              <a:ext cx="4876800" cy="743751"/>
            </a:xfrm>
            <a:custGeom>
              <a:avLst/>
              <a:gdLst/>
              <a:ahLst/>
              <a:cxnLst/>
              <a:rect l="l" t="t" r="r" b="b"/>
              <a:pathLst>
                <a:path w="2063242" h="358013">
                  <a:moveTo>
                    <a:pt x="0" y="74549"/>
                  </a:moveTo>
                  <a:cubicBezTo>
                    <a:pt x="0" y="33401"/>
                    <a:pt x="33401" y="0"/>
                    <a:pt x="74549" y="0"/>
                  </a:cubicBezTo>
                  <a:lnTo>
                    <a:pt x="1988693" y="0"/>
                  </a:lnTo>
                  <a:cubicBezTo>
                    <a:pt x="2029841" y="0"/>
                    <a:pt x="2063242" y="33401"/>
                    <a:pt x="2063242" y="74549"/>
                  </a:cubicBezTo>
                  <a:lnTo>
                    <a:pt x="2063242" y="283464"/>
                  </a:lnTo>
                  <a:cubicBezTo>
                    <a:pt x="2063242" y="324612"/>
                    <a:pt x="2029841" y="358013"/>
                    <a:pt x="1988693" y="358013"/>
                  </a:cubicBezTo>
                  <a:lnTo>
                    <a:pt x="74549" y="358013"/>
                  </a:lnTo>
                  <a:cubicBezTo>
                    <a:pt x="33401" y="358013"/>
                    <a:pt x="0" y="324612"/>
                    <a:pt x="0" y="283464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0600" y="726091"/>
            <a:ext cx="2743200" cy="171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13"/>
              </a:lnSpc>
            </a:pPr>
            <a:r>
              <a:rPr lang="en-US" sz="1600" b="1" dirty="0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RISKS &amp; MITIGATIONS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600" y="1390868"/>
            <a:ext cx="9213056" cy="55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3"/>
              </a:lnSpc>
            </a:pPr>
            <a:r>
              <a:rPr lang="en-US" sz="3250" b="1" dirty="0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2.9 Risks, Limitations &amp; Mitigations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9600" y="2883246"/>
            <a:ext cx="7897863" cy="444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63" b="1" dirty="0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Risk Categories &amp; Current Limitations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82706" y="3579593"/>
            <a:ext cx="4261457" cy="1337729"/>
            <a:chOff x="0" y="0"/>
            <a:chExt cx="5034432" cy="1783639"/>
          </a:xfrm>
        </p:grpSpPr>
        <p:sp>
          <p:nvSpPr>
            <p:cNvPr id="13" name="Freeform 13"/>
            <p:cNvSpPr/>
            <p:nvPr/>
          </p:nvSpPr>
          <p:spPr>
            <a:xfrm>
              <a:off x="10160" y="10160"/>
              <a:ext cx="5014087" cy="1763268"/>
            </a:xfrm>
            <a:custGeom>
              <a:avLst/>
              <a:gdLst/>
              <a:ahLst/>
              <a:cxnLst/>
              <a:rect l="l" t="t" r="r" b="b"/>
              <a:pathLst>
                <a:path w="5014087" h="1763268">
                  <a:moveTo>
                    <a:pt x="0" y="93091"/>
                  </a:moveTo>
                  <a:cubicBezTo>
                    <a:pt x="0" y="41656"/>
                    <a:pt x="42037" y="0"/>
                    <a:pt x="93853" y="0"/>
                  </a:cubicBezTo>
                  <a:lnTo>
                    <a:pt x="4920234" y="0"/>
                  </a:lnTo>
                  <a:cubicBezTo>
                    <a:pt x="4972050" y="0"/>
                    <a:pt x="5014087" y="41656"/>
                    <a:pt x="5014087" y="93091"/>
                  </a:cubicBezTo>
                  <a:lnTo>
                    <a:pt x="5014087" y="1670177"/>
                  </a:lnTo>
                  <a:cubicBezTo>
                    <a:pt x="5014087" y="1721612"/>
                    <a:pt x="4972050" y="1763268"/>
                    <a:pt x="4920234" y="1763268"/>
                  </a:cubicBezTo>
                  <a:lnTo>
                    <a:pt x="93853" y="1763268"/>
                  </a:lnTo>
                  <a:cubicBezTo>
                    <a:pt x="42037" y="1763268"/>
                    <a:pt x="0" y="1721612"/>
                    <a:pt x="0" y="167017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lnSpc>
                  <a:spcPts val="1999"/>
                </a:lnSpc>
              </a:pPr>
              <a:r>
                <a:rPr lang="en-US" b="1" dirty="0">
                  <a:solidFill>
                    <a:srgbClr val="333F70"/>
                  </a:solidFill>
                  <a:ea typeface="Arimo Bold"/>
                  <a:cs typeface="Arimo Bold"/>
                  <a:sym typeface="Arimo Bold"/>
                </a:rPr>
                <a:t>Data Quality Constraints</a:t>
              </a:r>
            </a:p>
            <a:p>
              <a:pPr>
                <a:lnSpc>
                  <a:spcPts val="1999"/>
                </a:lnSpc>
              </a:pPr>
              <a:r>
                <a:rPr lang="en-US" dirty="0">
                  <a:solidFill>
                    <a:srgbClr val="333F70"/>
                  </a:solidFill>
                  <a:ea typeface="Arimo Bold"/>
                  <a:cs typeface="Arimo Bold"/>
                  <a:sym typeface="Arimo Bold"/>
                </a:rPr>
                <a:t>Inconsistent and incomplete product descriptions across 1M+ rows required extensive pre-processing</a:t>
              </a:r>
            </a:p>
            <a:p>
              <a:pPr>
                <a:lnSpc>
                  <a:spcPts val="1999"/>
                </a:lnSpc>
              </a:pPr>
              <a:endPara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endParaRPr>
            </a:p>
            <a:p>
              <a:endParaRPr lang="en-CA" dirty="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5034407" cy="1783588"/>
            </a:xfrm>
            <a:custGeom>
              <a:avLst/>
              <a:gdLst/>
              <a:ahLst/>
              <a:cxnLst/>
              <a:rect l="l" t="t" r="r" b="b"/>
              <a:pathLst>
                <a:path w="5034407" h="1783588">
                  <a:moveTo>
                    <a:pt x="0" y="103251"/>
                  </a:moveTo>
                  <a:cubicBezTo>
                    <a:pt x="0" y="46228"/>
                    <a:pt x="46609" y="0"/>
                    <a:pt x="104013" y="0"/>
                  </a:cubicBezTo>
                  <a:lnTo>
                    <a:pt x="4930394" y="0"/>
                  </a:lnTo>
                  <a:lnTo>
                    <a:pt x="4930394" y="10160"/>
                  </a:lnTo>
                  <a:lnTo>
                    <a:pt x="4930394" y="0"/>
                  </a:lnTo>
                  <a:cubicBezTo>
                    <a:pt x="4987798" y="0"/>
                    <a:pt x="5034407" y="46228"/>
                    <a:pt x="5034407" y="103251"/>
                  </a:cubicBezTo>
                  <a:lnTo>
                    <a:pt x="5024247" y="103251"/>
                  </a:lnTo>
                  <a:lnTo>
                    <a:pt x="5034407" y="103251"/>
                  </a:lnTo>
                  <a:lnTo>
                    <a:pt x="5034407" y="1680337"/>
                  </a:lnTo>
                  <a:lnTo>
                    <a:pt x="5024247" y="1680337"/>
                  </a:lnTo>
                  <a:lnTo>
                    <a:pt x="5034407" y="1680337"/>
                  </a:lnTo>
                  <a:cubicBezTo>
                    <a:pt x="5034407" y="1737487"/>
                    <a:pt x="4987798" y="1783588"/>
                    <a:pt x="4930394" y="1783588"/>
                  </a:cubicBezTo>
                  <a:lnTo>
                    <a:pt x="4930394" y="1773428"/>
                  </a:lnTo>
                  <a:lnTo>
                    <a:pt x="4930394" y="1783588"/>
                  </a:lnTo>
                  <a:lnTo>
                    <a:pt x="104013" y="1783588"/>
                  </a:lnTo>
                  <a:lnTo>
                    <a:pt x="104013" y="1773428"/>
                  </a:lnTo>
                  <a:lnTo>
                    <a:pt x="104013" y="1783588"/>
                  </a:lnTo>
                  <a:cubicBezTo>
                    <a:pt x="46609" y="1783588"/>
                    <a:pt x="0" y="1737360"/>
                    <a:pt x="0" y="1680337"/>
                  </a:cubicBezTo>
                  <a:lnTo>
                    <a:pt x="0" y="103251"/>
                  </a:lnTo>
                  <a:lnTo>
                    <a:pt x="10160" y="103251"/>
                  </a:lnTo>
                  <a:lnTo>
                    <a:pt x="0" y="103251"/>
                  </a:lnTo>
                  <a:moveTo>
                    <a:pt x="20320" y="103251"/>
                  </a:moveTo>
                  <a:lnTo>
                    <a:pt x="20320" y="1680337"/>
                  </a:lnTo>
                  <a:lnTo>
                    <a:pt x="10160" y="1680337"/>
                  </a:lnTo>
                  <a:lnTo>
                    <a:pt x="20320" y="1680337"/>
                  </a:lnTo>
                  <a:cubicBezTo>
                    <a:pt x="20320" y="1726057"/>
                    <a:pt x="57658" y="1763268"/>
                    <a:pt x="104013" y="1763268"/>
                  </a:cubicBezTo>
                  <a:lnTo>
                    <a:pt x="4930394" y="1763268"/>
                  </a:lnTo>
                  <a:cubicBezTo>
                    <a:pt x="4976622" y="1763268"/>
                    <a:pt x="5014087" y="1726057"/>
                    <a:pt x="5014087" y="1680337"/>
                  </a:cubicBezTo>
                  <a:lnTo>
                    <a:pt x="5014087" y="103251"/>
                  </a:lnTo>
                  <a:cubicBezTo>
                    <a:pt x="5014087" y="57531"/>
                    <a:pt x="4976749" y="20320"/>
                    <a:pt x="4930394" y="20320"/>
                  </a:cubicBezTo>
                  <a:lnTo>
                    <a:pt x="104013" y="20320"/>
                  </a:lnTo>
                  <a:lnTo>
                    <a:pt x="104013" y="10160"/>
                  </a:lnTo>
                  <a:lnTo>
                    <a:pt x="104013" y="20320"/>
                  </a:lnTo>
                  <a:cubicBezTo>
                    <a:pt x="57658" y="20320"/>
                    <a:pt x="20320" y="57531"/>
                    <a:pt x="20320" y="10325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590773" y="3601050"/>
            <a:ext cx="3294164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5319322" y="3546515"/>
            <a:ext cx="4791226" cy="1337729"/>
            <a:chOff x="0" y="0"/>
            <a:chExt cx="5034432" cy="1783639"/>
          </a:xfrm>
        </p:grpSpPr>
        <p:sp>
          <p:nvSpPr>
            <p:cNvPr id="18" name="Freeform 18"/>
            <p:cNvSpPr/>
            <p:nvPr/>
          </p:nvSpPr>
          <p:spPr>
            <a:xfrm>
              <a:off x="10160" y="10160"/>
              <a:ext cx="5014087" cy="1763268"/>
            </a:xfrm>
            <a:custGeom>
              <a:avLst/>
              <a:gdLst/>
              <a:ahLst/>
              <a:cxnLst/>
              <a:rect l="l" t="t" r="r" b="b"/>
              <a:pathLst>
                <a:path w="5014087" h="1763268">
                  <a:moveTo>
                    <a:pt x="0" y="93091"/>
                  </a:moveTo>
                  <a:cubicBezTo>
                    <a:pt x="0" y="41656"/>
                    <a:pt x="42037" y="0"/>
                    <a:pt x="93853" y="0"/>
                  </a:cubicBezTo>
                  <a:lnTo>
                    <a:pt x="4920234" y="0"/>
                  </a:lnTo>
                  <a:cubicBezTo>
                    <a:pt x="4972050" y="0"/>
                    <a:pt x="5014087" y="41656"/>
                    <a:pt x="5014087" y="93091"/>
                  </a:cubicBezTo>
                  <a:lnTo>
                    <a:pt x="5014087" y="1670177"/>
                  </a:lnTo>
                  <a:cubicBezTo>
                    <a:pt x="5014087" y="1721612"/>
                    <a:pt x="4972050" y="1763268"/>
                    <a:pt x="4920234" y="1763268"/>
                  </a:cubicBezTo>
                  <a:lnTo>
                    <a:pt x="93853" y="1763268"/>
                  </a:lnTo>
                  <a:cubicBezTo>
                    <a:pt x="42037" y="1763268"/>
                    <a:pt x="0" y="1721612"/>
                    <a:pt x="0" y="167017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lnSpc>
                  <a:spcPts val="1999"/>
                </a:lnSpc>
              </a:pPr>
              <a:r>
                <a:rPr lang="en-US" b="1" dirty="0">
                  <a:solidFill>
                    <a:srgbClr val="333F70"/>
                  </a:solidFill>
                  <a:ea typeface="Arimo Bold"/>
                  <a:cs typeface="Arimo Bold"/>
                  <a:sym typeface="Arimo Bold"/>
                </a:rPr>
                <a:t>Scalability Bottlenecks</a:t>
              </a:r>
            </a:p>
            <a:p>
              <a:pPr>
                <a:lnSpc>
                  <a:spcPts val="1999"/>
                </a:lnSpc>
              </a:pPr>
              <a:r>
                <a:rPr lang="en-US" dirty="0">
                  <a:solidFill>
                    <a:srgbClr val="333F70"/>
                  </a:solidFill>
                  <a:ea typeface="Arimo Bold"/>
                  <a:cs typeface="Arimo Bold"/>
                  <a:sym typeface="Arimo Bold"/>
                </a:rPr>
                <a:t>Pandas-based pipeline efficient for 110MB PoC but will face memory limits at production scale</a:t>
              </a:r>
            </a:p>
            <a:p>
              <a:pPr>
                <a:lnSpc>
                  <a:spcPts val="1999"/>
                </a:lnSpc>
              </a:pPr>
              <a:endPara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endParaRPr>
            </a:p>
            <a:p>
              <a:endParaRPr lang="en-CA" dirty="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5034407" cy="1783588"/>
            </a:xfrm>
            <a:custGeom>
              <a:avLst/>
              <a:gdLst/>
              <a:ahLst/>
              <a:cxnLst/>
              <a:rect l="l" t="t" r="r" b="b"/>
              <a:pathLst>
                <a:path w="5034407" h="1783588">
                  <a:moveTo>
                    <a:pt x="0" y="103251"/>
                  </a:moveTo>
                  <a:cubicBezTo>
                    <a:pt x="0" y="46228"/>
                    <a:pt x="46609" y="0"/>
                    <a:pt x="104013" y="0"/>
                  </a:cubicBezTo>
                  <a:lnTo>
                    <a:pt x="4930394" y="0"/>
                  </a:lnTo>
                  <a:lnTo>
                    <a:pt x="4930394" y="10160"/>
                  </a:lnTo>
                  <a:lnTo>
                    <a:pt x="4930394" y="0"/>
                  </a:lnTo>
                  <a:cubicBezTo>
                    <a:pt x="4987798" y="0"/>
                    <a:pt x="5034407" y="46228"/>
                    <a:pt x="5034407" y="103251"/>
                  </a:cubicBezTo>
                  <a:lnTo>
                    <a:pt x="5024247" y="103251"/>
                  </a:lnTo>
                  <a:lnTo>
                    <a:pt x="5034407" y="103251"/>
                  </a:lnTo>
                  <a:lnTo>
                    <a:pt x="5034407" y="1680337"/>
                  </a:lnTo>
                  <a:lnTo>
                    <a:pt x="5024247" y="1680337"/>
                  </a:lnTo>
                  <a:lnTo>
                    <a:pt x="5034407" y="1680337"/>
                  </a:lnTo>
                  <a:cubicBezTo>
                    <a:pt x="5034407" y="1737487"/>
                    <a:pt x="4987798" y="1783588"/>
                    <a:pt x="4930394" y="1783588"/>
                  </a:cubicBezTo>
                  <a:lnTo>
                    <a:pt x="4930394" y="1773428"/>
                  </a:lnTo>
                  <a:lnTo>
                    <a:pt x="4930394" y="1783588"/>
                  </a:lnTo>
                  <a:lnTo>
                    <a:pt x="104013" y="1783588"/>
                  </a:lnTo>
                  <a:lnTo>
                    <a:pt x="104013" y="1773428"/>
                  </a:lnTo>
                  <a:lnTo>
                    <a:pt x="104013" y="1783588"/>
                  </a:lnTo>
                  <a:cubicBezTo>
                    <a:pt x="46609" y="1783588"/>
                    <a:pt x="0" y="1737360"/>
                    <a:pt x="0" y="1680337"/>
                  </a:cubicBezTo>
                  <a:lnTo>
                    <a:pt x="0" y="103251"/>
                  </a:lnTo>
                  <a:lnTo>
                    <a:pt x="10160" y="103251"/>
                  </a:lnTo>
                  <a:lnTo>
                    <a:pt x="0" y="103251"/>
                  </a:lnTo>
                  <a:moveTo>
                    <a:pt x="20320" y="103251"/>
                  </a:moveTo>
                  <a:lnTo>
                    <a:pt x="20320" y="1680337"/>
                  </a:lnTo>
                  <a:lnTo>
                    <a:pt x="10160" y="1680337"/>
                  </a:lnTo>
                  <a:lnTo>
                    <a:pt x="20320" y="1680337"/>
                  </a:lnTo>
                  <a:cubicBezTo>
                    <a:pt x="20320" y="1726057"/>
                    <a:pt x="57658" y="1763268"/>
                    <a:pt x="104013" y="1763268"/>
                  </a:cubicBezTo>
                  <a:lnTo>
                    <a:pt x="4930394" y="1763268"/>
                  </a:lnTo>
                  <a:cubicBezTo>
                    <a:pt x="4976622" y="1763268"/>
                    <a:pt x="5014087" y="1726057"/>
                    <a:pt x="5014087" y="1680337"/>
                  </a:cubicBezTo>
                  <a:lnTo>
                    <a:pt x="5014087" y="103251"/>
                  </a:lnTo>
                  <a:cubicBezTo>
                    <a:pt x="5014087" y="57531"/>
                    <a:pt x="4976749" y="20320"/>
                    <a:pt x="4930394" y="20320"/>
                  </a:cubicBezTo>
                  <a:lnTo>
                    <a:pt x="104013" y="20320"/>
                  </a:lnTo>
                  <a:lnTo>
                    <a:pt x="104013" y="10160"/>
                  </a:lnTo>
                  <a:lnTo>
                    <a:pt x="104013" y="20320"/>
                  </a:lnTo>
                  <a:cubicBezTo>
                    <a:pt x="57658" y="20320"/>
                    <a:pt x="20320" y="57531"/>
                    <a:pt x="20320" y="10325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74432" y="3587213"/>
            <a:ext cx="4413168" cy="1337729"/>
            <a:chOff x="0" y="0"/>
            <a:chExt cx="5034636" cy="1783639"/>
          </a:xfrm>
        </p:grpSpPr>
        <p:sp>
          <p:nvSpPr>
            <p:cNvPr id="23" name="Freeform 23"/>
            <p:cNvSpPr/>
            <p:nvPr/>
          </p:nvSpPr>
          <p:spPr>
            <a:xfrm>
              <a:off x="10160" y="10160"/>
              <a:ext cx="5014341" cy="1763268"/>
            </a:xfrm>
            <a:custGeom>
              <a:avLst/>
              <a:gdLst/>
              <a:ahLst/>
              <a:cxnLst/>
              <a:rect l="l" t="t" r="r" b="b"/>
              <a:pathLst>
                <a:path w="5014341" h="1763268">
                  <a:moveTo>
                    <a:pt x="0" y="93091"/>
                  </a:moveTo>
                  <a:cubicBezTo>
                    <a:pt x="0" y="41656"/>
                    <a:pt x="42037" y="0"/>
                    <a:pt x="93853" y="0"/>
                  </a:cubicBezTo>
                  <a:lnTo>
                    <a:pt x="4920488" y="0"/>
                  </a:lnTo>
                  <a:cubicBezTo>
                    <a:pt x="4972304" y="0"/>
                    <a:pt x="5014341" y="41656"/>
                    <a:pt x="5014341" y="93091"/>
                  </a:cubicBezTo>
                  <a:lnTo>
                    <a:pt x="5014341" y="1670177"/>
                  </a:lnTo>
                  <a:cubicBezTo>
                    <a:pt x="5014341" y="1721612"/>
                    <a:pt x="4972304" y="1763268"/>
                    <a:pt x="4920488" y="1763268"/>
                  </a:cubicBezTo>
                  <a:lnTo>
                    <a:pt x="93853" y="1763268"/>
                  </a:lnTo>
                  <a:cubicBezTo>
                    <a:pt x="42037" y="1763268"/>
                    <a:pt x="0" y="1721612"/>
                    <a:pt x="0" y="167017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5034661" cy="1783588"/>
            </a:xfrm>
            <a:custGeom>
              <a:avLst/>
              <a:gdLst/>
              <a:ahLst/>
              <a:cxnLst/>
              <a:rect l="l" t="t" r="r" b="b"/>
              <a:pathLst>
                <a:path w="5034661" h="1783588">
                  <a:moveTo>
                    <a:pt x="0" y="103251"/>
                  </a:moveTo>
                  <a:cubicBezTo>
                    <a:pt x="0" y="46228"/>
                    <a:pt x="46609" y="0"/>
                    <a:pt x="104013" y="0"/>
                  </a:cubicBezTo>
                  <a:lnTo>
                    <a:pt x="4930648" y="0"/>
                  </a:lnTo>
                  <a:lnTo>
                    <a:pt x="4930648" y="10160"/>
                  </a:lnTo>
                  <a:lnTo>
                    <a:pt x="4930648" y="0"/>
                  </a:lnTo>
                  <a:cubicBezTo>
                    <a:pt x="4988052" y="0"/>
                    <a:pt x="5034661" y="46228"/>
                    <a:pt x="5034661" y="103251"/>
                  </a:cubicBezTo>
                  <a:lnTo>
                    <a:pt x="5024501" y="103251"/>
                  </a:lnTo>
                  <a:lnTo>
                    <a:pt x="5034661" y="103251"/>
                  </a:lnTo>
                  <a:lnTo>
                    <a:pt x="5034661" y="1680337"/>
                  </a:lnTo>
                  <a:lnTo>
                    <a:pt x="5024501" y="1680337"/>
                  </a:lnTo>
                  <a:lnTo>
                    <a:pt x="5034661" y="1680337"/>
                  </a:lnTo>
                  <a:cubicBezTo>
                    <a:pt x="5034661" y="1737487"/>
                    <a:pt x="4988052" y="1783588"/>
                    <a:pt x="4930648" y="1783588"/>
                  </a:cubicBezTo>
                  <a:lnTo>
                    <a:pt x="4930648" y="1773428"/>
                  </a:lnTo>
                  <a:lnTo>
                    <a:pt x="4930648" y="1783588"/>
                  </a:lnTo>
                  <a:lnTo>
                    <a:pt x="104013" y="1783588"/>
                  </a:lnTo>
                  <a:lnTo>
                    <a:pt x="104013" y="1773428"/>
                  </a:lnTo>
                  <a:lnTo>
                    <a:pt x="104013" y="1783588"/>
                  </a:lnTo>
                  <a:cubicBezTo>
                    <a:pt x="46609" y="1783588"/>
                    <a:pt x="0" y="1737360"/>
                    <a:pt x="0" y="1680337"/>
                  </a:cubicBezTo>
                  <a:lnTo>
                    <a:pt x="0" y="103251"/>
                  </a:lnTo>
                  <a:lnTo>
                    <a:pt x="10160" y="103251"/>
                  </a:lnTo>
                  <a:lnTo>
                    <a:pt x="0" y="103251"/>
                  </a:lnTo>
                  <a:moveTo>
                    <a:pt x="20320" y="103251"/>
                  </a:moveTo>
                  <a:lnTo>
                    <a:pt x="20320" y="1680337"/>
                  </a:lnTo>
                  <a:lnTo>
                    <a:pt x="10160" y="1680337"/>
                  </a:lnTo>
                  <a:lnTo>
                    <a:pt x="20320" y="1680337"/>
                  </a:lnTo>
                  <a:cubicBezTo>
                    <a:pt x="20320" y="1726057"/>
                    <a:pt x="57658" y="1763268"/>
                    <a:pt x="104013" y="1763268"/>
                  </a:cubicBezTo>
                  <a:lnTo>
                    <a:pt x="4930648" y="1763268"/>
                  </a:lnTo>
                  <a:cubicBezTo>
                    <a:pt x="4976876" y="1763268"/>
                    <a:pt x="5014341" y="1726057"/>
                    <a:pt x="5014341" y="1680337"/>
                  </a:cubicBezTo>
                  <a:lnTo>
                    <a:pt x="5014341" y="103251"/>
                  </a:lnTo>
                  <a:cubicBezTo>
                    <a:pt x="5014341" y="57531"/>
                    <a:pt x="4977003" y="20320"/>
                    <a:pt x="4930648" y="20320"/>
                  </a:cubicBezTo>
                  <a:lnTo>
                    <a:pt x="104013" y="20320"/>
                  </a:lnTo>
                  <a:lnTo>
                    <a:pt x="104013" y="10160"/>
                  </a:lnTo>
                  <a:lnTo>
                    <a:pt x="104013" y="20320"/>
                  </a:lnTo>
                  <a:cubicBezTo>
                    <a:pt x="57658" y="20320"/>
                    <a:pt x="20320" y="57531"/>
                    <a:pt x="20320" y="10325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894765" y="3601079"/>
            <a:ext cx="3789610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25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Anonymity &amp; Lack of PII</a:t>
            </a:r>
          </a:p>
          <a:p>
            <a:pPr>
              <a:lnSpc>
                <a:spcPts val="1999"/>
              </a:lnSpc>
            </a:pP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Dataset lacks PII, limiting segmentation to behavioral cohorts only</a:t>
            </a:r>
          </a:p>
          <a:p>
            <a:pPr algn="l">
              <a:lnSpc>
                <a:spcPts val="1999"/>
              </a:lnSpc>
            </a:pPr>
            <a:endParaRPr lang="en-US" sz="1625" b="1" dirty="0">
              <a:solidFill>
                <a:srgbClr val="333F70"/>
              </a:solidFill>
              <a:latin typeface="Aptos ExtraBold" panose="020F0502020204030204" pitchFamily="34" charset="0"/>
              <a:ea typeface="Arimo Bold"/>
              <a:cs typeface="Arimo Bold"/>
              <a:sym typeface="Arimo Bold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642338" y="5017208"/>
            <a:ext cx="6863209" cy="1126541"/>
            <a:chOff x="0" y="0"/>
            <a:chExt cx="7606589" cy="1502054"/>
          </a:xfrm>
        </p:grpSpPr>
        <p:sp>
          <p:nvSpPr>
            <p:cNvPr id="28" name="Freeform 28"/>
            <p:cNvSpPr/>
            <p:nvPr/>
          </p:nvSpPr>
          <p:spPr>
            <a:xfrm>
              <a:off x="10160" y="10160"/>
              <a:ext cx="7586217" cy="1481582"/>
            </a:xfrm>
            <a:custGeom>
              <a:avLst/>
              <a:gdLst/>
              <a:ahLst/>
              <a:cxnLst/>
              <a:rect l="l" t="t" r="r" b="b"/>
              <a:pathLst>
                <a:path w="7586217" h="1481582">
                  <a:moveTo>
                    <a:pt x="0" y="93091"/>
                  </a:moveTo>
                  <a:cubicBezTo>
                    <a:pt x="0" y="41656"/>
                    <a:pt x="42164" y="0"/>
                    <a:pt x="94107" y="0"/>
                  </a:cubicBezTo>
                  <a:lnTo>
                    <a:pt x="7492111" y="0"/>
                  </a:lnTo>
                  <a:cubicBezTo>
                    <a:pt x="7544180" y="0"/>
                    <a:pt x="7586217" y="41656"/>
                    <a:pt x="7586217" y="93091"/>
                  </a:cubicBezTo>
                  <a:lnTo>
                    <a:pt x="7586217" y="1388491"/>
                  </a:lnTo>
                  <a:cubicBezTo>
                    <a:pt x="7586217" y="1439926"/>
                    <a:pt x="7544054" y="1481582"/>
                    <a:pt x="7492111" y="1481582"/>
                  </a:cubicBezTo>
                  <a:lnTo>
                    <a:pt x="94107" y="1481582"/>
                  </a:lnTo>
                  <a:cubicBezTo>
                    <a:pt x="42037" y="1481582"/>
                    <a:pt x="0" y="1439926"/>
                    <a:pt x="0" y="13884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7606538" cy="1501902"/>
            </a:xfrm>
            <a:custGeom>
              <a:avLst/>
              <a:gdLst/>
              <a:ahLst/>
              <a:cxnLst/>
              <a:rect l="l" t="t" r="r" b="b"/>
              <a:pathLst>
                <a:path w="7606538" h="1501902">
                  <a:moveTo>
                    <a:pt x="0" y="103251"/>
                  </a:moveTo>
                  <a:cubicBezTo>
                    <a:pt x="0" y="46101"/>
                    <a:pt x="46863" y="0"/>
                    <a:pt x="104267" y="0"/>
                  </a:cubicBezTo>
                  <a:lnTo>
                    <a:pt x="7502271" y="0"/>
                  </a:lnTo>
                  <a:lnTo>
                    <a:pt x="7502271" y="10160"/>
                  </a:lnTo>
                  <a:lnTo>
                    <a:pt x="7502271" y="0"/>
                  </a:lnTo>
                  <a:cubicBezTo>
                    <a:pt x="7559802" y="0"/>
                    <a:pt x="7606538" y="46101"/>
                    <a:pt x="7606538" y="103251"/>
                  </a:cubicBezTo>
                  <a:lnTo>
                    <a:pt x="7596377" y="103251"/>
                  </a:lnTo>
                  <a:lnTo>
                    <a:pt x="7606538" y="103251"/>
                  </a:lnTo>
                  <a:lnTo>
                    <a:pt x="7606538" y="1398651"/>
                  </a:lnTo>
                  <a:lnTo>
                    <a:pt x="7596377" y="1398651"/>
                  </a:lnTo>
                  <a:lnTo>
                    <a:pt x="7606538" y="1398651"/>
                  </a:lnTo>
                  <a:cubicBezTo>
                    <a:pt x="7606538" y="1455801"/>
                    <a:pt x="7559675" y="1501902"/>
                    <a:pt x="7502271" y="1501902"/>
                  </a:cubicBezTo>
                  <a:lnTo>
                    <a:pt x="7502271" y="1491742"/>
                  </a:lnTo>
                  <a:lnTo>
                    <a:pt x="7502271" y="1501902"/>
                  </a:lnTo>
                  <a:lnTo>
                    <a:pt x="104267" y="1501902"/>
                  </a:lnTo>
                  <a:lnTo>
                    <a:pt x="104267" y="1491742"/>
                  </a:lnTo>
                  <a:lnTo>
                    <a:pt x="104267" y="1501902"/>
                  </a:lnTo>
                  <a:cubicBezTo>
                    <a:pt x="46736" y="1501902"/>
                    <a:pt x="0" y="1455801"/>
                    <a:pt x="0" y="1398651"/>
                  </a:cubicBezTo>
                  <a:lnTo>
                    <a:pt x="0" y="103251"/>
                  </a:lnTo>
                  <a:lnTo>
                    <a:pt x="10160" y="103251"/>
                  </a:lnTo>
                  <a:lnTo>
                    <a:pt x="0" y="103251"/>
                  </a:lnTo>
                  <a:moveTo>
                    <a:pt x="20320" y="103251"/>
                  </a:moveTo>
                  <a:lnTo>
                    <a:pt x="20320" y="1398651"/>
                  </a:lnTo>
                  <a:lnTo>
                    <a:pt x="10160" y="1398651"/>
                  </a:lnTo>
                  <a:lnTo>
                    <a:pt x="20320" y="1398651"/>
                  </a:lnTo>
                  <a:cubicBezTo>
                    <a:pt x="20320" y="1444371"/>
                    <a:pt x="57785" y="1481582"/>
                    <a:pt x="104267" y="1481582"/>
                  </a:cubicBezTo>
                  <a:lnTo>
                    <a:pt x="7502271" y="1481582"/>
                  </a:lnTo>
                  <a:cubicBezTo>
                    <a:pt x="7548752" y="1481582"/>
                    <a:pt x="7586218" y="1444371"/>
                    <a:pt x="7586218" y="1398651"/>
                  </a:cubicBezTo>
                  <a:lnTo>
                    <a:pt x="7586218" y="103251"/>
                  </a:lnTo>
                  <a:cubicBezTo>
                    <a:pt x="7586218" y="57531"/>
                    <a:pt x="7548752" y="20320"/>
                    <a:pt x="7502271" y="20320"/>
                  </a:cubicBezTo>
                  <a:lnTo>
                    <a:pt x="104267" y="20320"/>
                  </a:lnTo>
                  <a:lnTo>
                    <a:pt x="104267" y="10160"/>
                  </a:lnTo>
                  <a:lnTo>
                    <a:pt x="104267" y="20320"/>
                  </a:lnTo>
                  <a:cubicBezTo>
                    <a:pt x="57785" y="20320"/>
                    <a:pt x="20320" y="57531"/>
                    <a:pt x="20320" y="10325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42206" y="5151716"/>
            <a:ext cx="4791227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Revenue Distortion via Cancellations</a:t>
            </a:r>
          </a:p>
          <a:p>
            <a:pPr>
              <a:lnSpc>
                <a:spcPts val="1999"/>
              </a:lnSpc>
            </a:pP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19,000+ "C" prefixed transactions represent returns/cancellations that inflate revenue</a:t>
            </a:r>
          </a:p>
          <a:p>
            <a:pPr algn="l">
              <a:lnSpc>
                <a:spcPts val="1999"/>
              </a:lnSpc>
            </a:pPr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7886502" y="5033301"/>
            <a:ext cx="7196394" cy="1126541"/>
            <a:chOff x="0" y="0"/>
            <a:chExt cx="7606589" cy="1502054"/>
          </a:xfrm>
        </p:grpSpPr>
        <p:sp>
          <p:nvSpPr>
            <p:cNvPr id="33" name="Freeform 33"/>
            <p:cNvSpPr/>
            <p:nvPr/>
          </p:nvSpPr>
          <p:spPr>
            <a:xfrm>
              <a:off x="10160" y="10160"/>
              <a:ext cx="7586217" cy="1481582"/>
            </a:xfrm>
            <a:custGeom>
              <a:avLst/>
              <a:gdLst/>
              <a:ahLst/>
              <a:cxnLst/>
              <a:rect l="l" t="t" r="r" b="b"/>
              <a:pathLst>
                <a:path w="7586217" h="1481582">
                  <a:moveTo>
                    <a:pt x="0" y="93091"/>
                  </a:moveTo>
                  <a:cubicBezTo>
                    <a:pt x="0" y="41656"/>
                    <a:pt x="42164" y="0"/>
                    <a:pt x="94107" y="0"/>
                  </a:cubicBezTo>
                  <a:lnTo>
                    <a:pt x="7492111" y="0"/>
                  </a:lnTo>
                  <a:cubicBezTo>
                    <a:pt x="7544180" y="0"/>
                    <a:pt x="7586217" y="41656"/>
                    <a:pt x="7586217" y="93091"/>
                  </a:cubicBezTo>
                  <a:lnTo>
                    <a:pt x="7586217" y="1388491"/>
                  </a:lnTo>
                  <a:cubicBezTo>
                    <a:pt x="7586217" y="1439926"/>
                    <a:pt x="7544054" y="1481582"/>
                    <a:pt x="7492111" y="1481582"/>
                  </a:cubicBezTo>
                  <a:lnTo>
                    <a:pt x="94107" y="1481582"/>
                  </a:lnTo>
                  <a:cubicBezTo>
                    <a:pt x="42037" y="1481582"/>
                    <a:pt x="0" y="1439926"/>
                    <a:pt x="0" y="13884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7606538" cy="1501902"/>
            </a:xfrm>
            <a:custGeom>
              <a:avLst/>
              <a:gdLst/>
              <a:ahLst/>
              <a:cxnLst/>
              <a:rect l="l" t="t" r="r" b="b"/>
              <a:pathLst>
                <a:path w="7606538" h="1501902">
                  <a:moveTo>
                    <a:pt x="0" y="103251"/>
                  </a:moveTo>
                  <a:cubicBezTo>
                    <a:pt x="0" y="46101"/>
                    <a:pt x="46863" y="0"/>
                    <a:pt x="104267" y="0"/>
                  </a:cubicBezTo>
                  <a:lnTo>
                    <a:pt x="7502271" y="0"/>
                  </a:lnTo>
                  <a:lnTo>
                    <a:pt x="7502271" y="10160"/>
                  </a:lnTo>
                  <a:lnTo>
                    <a:pt x="7502271" y="0"/>
                  </a:lnTo>
                  <a:cubicBezTo>
                    <a:pt x="7559802" y="0"/>
                    <a:pt x="7606538" y="46101"/>
                    <a:pt x="7606538" y="103251"/>
                  </a:cubicBezTo>
                  <a:lnTo>
                    <a:pt x="7596377" y="103251"/>
                  </a:lnTo>
                  <a:lnTo>
                    <a:pt x="7606538" y="103251"/>
                  </a:lnTo>
                  <a:lnTo>
                    <a:pt x="7606538" y="1398651"/>
                  </a:lnTo>
                  <a:lnTo>
                    <a:pt x="7596377" y="1398651"/>
                  </a:lnTo>
                  <a:lnTo>
                    <a:pt x="7606538" y="1398651"/>
                  </a:lnTo>
                  <a:cubicBezTo>
                    <a:pt x="7606538" y="1455801"/>
                    <a:pt x="7559675" y="1501902"/>
                    <a:pt x="7502271" y="1501902"/>
                  </a:cubicBezTo>
                  <a:lnTo>
                    <a:pt x="7502271" y="1491742"/>
                  </a:lnTo>
                  <a:lnTo>
                    <a:pt x="7502271" y="1501902"/>
                  </a:lnTo>
                  <a:lnTo>
                    <a:pt x="104267" y="1501902"/>
                  </a:lnTo>
                  <a:lnTo>
                    <a:pt x="104267" y="1491742"/>
                  </a:lnTo>
                  <a:lnTo>
                    <a:pt x="104267" y="1501902"/>
                  </a:lnTo>
                  <a:cubicBezTo>
                    <a:pt x="46736" y="1501902"/>
                    <a:pt x="0" y="1455801"/>
                    <a:pt x="0" y="1398651"/>
                  </a:cubicBezTo>
                  <a:lnTo>
                    <a:pt x="0" y="103251"/>
                  </a:lnTo>
                  <a:lnTo>
                    <a:pt x="10160" y="103251"/>
                  </a:lnTo>
                  <a:lnTo>
                    <a:pt x="0" y="103251"/>
                  </a:lnTo>
                  <a:moveTo>
                    <a:pt x="20320" y="103251"/>
                  </a:moveTo>
                  <a:lnTo>
                    <a:pt x="20320" y="1398651"/>
                  </a:lnTo>
                  <a:lnTo>
                    <a:pt x="10160" y="1398651"/>
                  </a:lnTo>
                  <a:lnTo>
                    <a:pt x="20320" y="1398651"/>
                  </a:lnTo>
                  <a:cubicBezTo>
                    <a:pt x="20320" y="1444371"/>
                    <a:pt x="57785" y="1481582"/>
                    <a:pt x="104267" y="1481582"/>
                  </a:cubicBezTo>
                  <a:lnTo>
                    <a:pt x="7502271" y="1481582"/>
                  </a:lnTo>
                  <a:cubicBezTo>
                    <a:pt x="7548752" y="1481582"/>
                    <a:pt x="7586218" y="1444371"/>
                    <a:pt x="7586218" y="1398651"/>
                  </a:cubicBezTo>
                  <a:lnTo>
                    <a:pt x="7586218" y="103251"/>
                  </a:lnTo>
                  <a:cubicBezTo>
                    <a:pt x="7586218" y="57531"/>
                    <a:pt x="7548752" y="20320"/>
                    <a:pt x="7502271" y="20320"/>
                  </a:cubicBezTo>
                  <a:lnTo>
                    <a:pt x="104267" y="20320"/>
                  </a:lnTo>
                  <a:lnTo>
                    <a:pt x="104267" y="10160"/>
                  </a:lnTo>
                  <a:lnTo>
                    <a:pt x="104267" y="20320"/>
                  </a:lnTo>
                  <a:cubicBezTo>
                    <a:pt x="57785" y="20320"/>
                    <a:pt x="20320" y="57531"/>
                    <a:pt x="20320" y="10325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 dirty="0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544810" y="5134164"/>
            <a:ext cx="5517381" cy="1016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Temporal Sampling Bias</a:t>
            </a:r>
          </a:p>
          <a:p>
            <a:pPr>
              <a:lnSpc>
                <a:spcPts val="1999"/>
              </a:lnSpc>
            </a:pP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Two-year window (Dec 2009-Dec 2011) may not account for long-term shifts or post-pandemic behaviors</a:t>
            </a:r>
          </a:p>
          <a:p>
            <a:pPr algn="l">
              <a:lnSpc>
                <a:spcPts val="1999"/>
              </a:lnSpc>
            </a:pPr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49959" y="6264730"/>
            <a:ext cx="8316668" cy="444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63" b="1" dirty="0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Strategic Mitigations &amp; Future-Proofing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71712" y="6813988"/>
            <a:ext cx="5697322" cy="888682"/>
            <a:chOff x="0" y="0"/>
            <a:chExt cx="7596429" cy="1184910"/>
          </a:xfrm>
        </p:grpSpPr>
        <p:sp>
          <p:nvSpPr>
            <p:cNvPr id="39" name="Freeform 39"/>
            <p:cNvSpPr/>
            <p:nvPr/>
          </p:nvSpPr>
          <p:spPr>
            <a:xfrm>
              <a:off x="5080" y="5080"/>
              <a:ext cx="7586345" cy="1174750"/>
            </a:xfrm>
            <a:custGeom>
              <a:avLst/>
              <a:gdLst/>
              <a:ahLst/>
              <a:cxnLst/>
              <a:rect l="l" t="t" r="r" b="b"/>
              <a:pathLst>
                <a:path w="7586345" h="1174750">
                  <a:moveTo>
                    <a:pt x="0" y="93091"/>
                  </a:moveTo>
                  <a:cubicBezTo>
                    <a:pt x="0" y="41656"/>
                    <a:pt x="42037" y="0"/>
                    <a:pt x="93853" y="0"/>
                  </a:cubicBezTo>
                  <a:lnTo>
                    <a:pt x="7492492" y="0"/>
                  </a:lnTo>
                  <a:cubicBezTo>
                    <a:pt x="7544308" y="0"/>
                    <a:pt x="7586345" y="41656"/>
                    <a:pt x="7586345" y="93091"/>
                  </a:cubicBezTo>
                  <a:lnTo>
                    <a:pt x="7586345" y="1081659"/>
                  </a:lnTo>
                  <a:cubicBezTo>
                    <a:pt x="7586345" y="1133094"/>
                    <a:pt x="7544308" y="1174750"/>
                    <a:pt x="7492492" y="1174750"/>
                  </a:cubicBezTo>
                  <a:lnTo>
                    <a:pt x="93853" y="1174750"/>
                  </a:lnTo>
                  <a:cubicBezTo>
                    <a:pt x="42037" y="1174750"/>
                    <a:pt x="0" y="1133094"/>
                    <a:pt x="0" y="1081659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7596505" cy="1184910"/>
            </a:xfrm>
            <a:custGeom>
              <a:avLst/>
              <a:gdLst/>
              <a:ahLst/>
              <a:cxnLst/>
              <a:rect l="l" t="t" r="r" b="b"/>
              <a:pathLst>
                <a:path w="7596505" h="1184910">
                  <a:moveTo>
                    <a:pt x="0" y="98171"/>
                  </a:moveTo>
                  <a:cubicBezTo>
                    <a:pt x="0" y="43942"/>
                    <a:pt x="44323" y="0"/>
                    <a:pt x="98933" y="0"/>
                  </a:cubicBezTo>
                  <a:lnTo>
                    <a:pt x="7497572" y="0"/>
                  </a:lnTo>
                  <a:lnTo>
                    <a:pt x="7497572" y="5080"/>
                  </a:lnTo>
                  <a:lnTo>
                    <a:pt x="7497572" y="0"/>
                  </a:lnTo>
                  <a:cubicBezTo>
                    <a:pt x="7552182" y="0"/>
                    <a:pt x="7596505" y="43942"/>
                    <a:pt x="7596505" y="98171"/>
                  </a:cubicBezTo>
                  <a:lnTo>
                    <a:pt x="7591425" y="98171"/>
                  </a:lnTo>
                  <a:lnTo>
                    <a:pt x="7596505" y="98171"/>
                  </a:lnTo>
                  <a:lnTo>
                    <a:pt x="7596505" y="1086739"/>
                  </a:lnTo>
                  <a:lnTo>
                    <a:pt x="7591425" y="1086739"/>
                  </a:lnTo>
                  <a:lnTo>
                    <a:pt x="7596505" y="1086739"/>
                  </a:lnTo>
                  <a:cubicBezTo>
                    <a:pt x="7596505" y="1140968"/>
                    <a:pt x="7552182" y="1184910"/>
                    <a:pt x="7497572" y="1184910"/>
                  </a:cubicBezTo>
                  <a:lnTo>
                    <a:pt x="7497572" y="1179830"/>
                  </a:lnTo>
                  <a:lnTo>
                    <a:pt x="7497572" y="1184910"/>
                  </a:lnTo>
                  <a:lnTo>
                    <a:pt x="98933" y="1184910"/>
                  </a:lnTo>
                  <a:lnTo>
                    <a:pt x="98933" y="1179830"/>
                  </a:lnTo>
                  <a:lnTo>
                    <a:pt x="98933" y="1184910"/>
                  </a:lnTo>
                  <a:cubicBezTo>
                    <a:pt x="44323" y="1184910"/>
                    <a:pt x="0" y="1140968"/>
                    <a:pt x="0" y="1086739"/>
                  </a:cubicBezTo>
                  <a:lnTo>
                    <a:pt x="0" y="98171"/>
                  </a:lnTo>
                  <a:lnTo>
                    <a:pt x="5080" y="98171"/>
                  </a:lnTo>
                  <a:lnTo>
                    <a:pt x="0" y="98171"/>
                  </a:lnTo>
                  <a:moveTo>
                    <a:pt x="10160" y="98171"/>
                  </a:moveTo>
                  <a:lnTo>
                    <a:pt x="10160" y="1086739"/>
                  </a:lnTo>
                  <a:lnTo>
                    <a:pt x="5080" y="1086739"/>
                  </a:lnTo>
                  <a:lnTo>
                    <a:pt x="10160" y="1086739"/>
                  </a:lnTo>
                  <a:cubicBezTo>
                    <a:pt x="10160" y="1135380"/>
                    <a:pt x="49911" y="1174750"/>
                    <a:pt x="98933" y="1174750"/>
                  </a:cubicBezTo>
                  <a:lnTo>
                    <a:pt x="7497572" y="1174750"/>
                  </a:lnTo>
                  <a:cubicBezTo>
                    <a:pt x="7546594" y="1174750"/>
                    <a:pt x="7586345" y="1135253"/>
                    <a:pt x="7586345" y="1086739"/>
                  </a:cubicBezTo>
                  <a:lnTo>
                    <a:pt x="7586345" y="98171"/>
                  </a:lnTo>
                  <a:cubicBezTo>
                    <a:pt x="7586345" y="49530"/>
                    <a:pt x="7546594" y="10160"/>
                    <a:pt x="7497572" y="10160"/>
                  </a:cubicBezTo>
                  <a:lnTo>
                    <a:pt x="98933" y="10160"/>
                  </a:lnTo>
                  <a:lnTo>
                    <a:pt x="98933" y="5080"/>
                  </a:lnTo>
                  <a:lnTo>
                    <a:pt x="98933" y="10160"/>
                  </a:lnTo>
                  <a:cubicBezTo>
                    <a:pt x="49911" y="10160"/>
                    <a:pt x="10160" y="49657"/>
                    <a:pt x="10160" y="9817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90599" y="6865701"/>
            <a:ext cx="517748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Unique Product Master Tables</a:t>
            </a:r>
          </a:p>
          <a:p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Relational product catalog for standardized descriptions</a:t>
            </a:r>
          </a:p>
          <a:p>
            <a:pPr algn="l"/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grpSp>
        <p:nvGrpSpPr>
          <p:cNvPr id="43" name="Group 43"/>
          <p:cNvGrpSpPr/>
          <p:nvPr/>
        </p:nvGrpSpPr>
        <p:grpSpPr>
          <a:xfrm>
            <a:off x="8507463" y="6760398"/>
            <a:ext cx="5697322" cy="888682"/>
            <a:chOff x="0" y="0"/>
            <a:chExt cx="7596429" cy="1184910"/>
          </a:xfrm>
        </p:grpSpPr>
        <p:sp>
          <p:nvSpPr>
            <p:cNvPr id="44" name="Freeform 44"/>
            <p:cNvSpPr/>
            <p:nvPr/>
          </p:nvSpPr>
          <p:spPr>
            <a:xfrm>
              <a:off x="5080" y="5080"/>
              <a:ext cx="7586345" cy="1174750"/>
            </a:xfrm>
            <a:custGeom>
              <a:avLst/>
              <a:gdLst/>
              <a:ahLst/>
              <a:cxnLst/>
              <a:rect l="l" t="t" r="r" b="b"/>
              <a:pathLst>
                <a:path w="7586345" h="1174750">
                  <a:moveTo>
                    <a:pt x="0" y="93091"/>
                  </a:moveTo>
                  <a:cubicBezTo>
                    <a:pt x="0" y="41656"/>
                    <a:pt x="42037" y="0"/>
                    <a:pt x="93853" y="0"/>
                  </a:cubicBezTo>
                  <a:lnTo>
                    <a:pt x="7492492" y="0"/>
                  </a:lnTo>
                  <a:cubicBezTo>
                    <a:pt x="7544308" y="0"/>
                    <a:pt x="7586345" y="41656"/>
                    <a:pt x="7586345" y="93091"/>
                  </a:cubicBezTo>
                  <a:lnTo>
                    <a:pt x="7586345" y="1081659"/>
                  </a:lnTo>
                  <a:cubicBezTo>
                    <a:pt x="7586345" y="1133094"/>
                    <a:pt x="7544308" y="1174750"/>
                    <a:pt x="7492492" y="1174750"/>
                  </a:cubicBezTo>
                  <a:lnTo>
                    <a:pt x="93853" y="1174750"/>
                  </a:lnTo>
                  <a:cubicBezTo>
                    <a:pt x="42037" y="1174750"/>
                    <a:pt x="0" y="1133094"/>
                    <a:pt x="0" y="1081659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0"/>
              <a:ext cx="7596505" cy="1184910"/>
            </a:xfrm>
            <a:custGeom>
              <a:avLst/>
              <a:gdLst/>
              <a:ahLst/>
              <a:cxnLst/>
              <a:rect l="l" t="t" r="r" b="b"/>
              <a:pathLst>
                <a:path w="7596505" h="1184910">
                  <a:moveTo>
                    <a:pt x="0" y="98171"/>
                  </a:moveTo>
                  <a:cubicBezTo>
                    <a:pt x="0" y="43942"/>
                    <a:pt x="44323" y="0"/>
                    <a:pt x="98933" y="0"/>
                  </a:cubicBezTo>
                  <a:lnTo>
                    <a:pt x="7497572" y="0"/>
                  </a:lnTo>
                  <a:lnTo>
                    <a:pt x="7497572" y="5080"/>
                  </a:lnTo>
                  <a:lnTo>
                    <a:pt x="7497572" y="0"/>
                  </a:lnTo>
                  <a:cubicBezTo>
                    <a:pt x="7552182" y="0"/>
                    <a:pt x="7596505" y="43942"/>
                    <a:pt x="7596505" y="98171"/>
                  </a:cubicBezTo>
                  <a:lnTo>
                    <a:pt x="7591425" y="98171"/>
                  </a:lnTo>
                  <a:lnTo>
                    <a:pt x="7596505" y="98171"/>
                  </a:lnTo>
                  <a:lnTo>
                    <a:pt x="7596505" y="1086739"/>
                  </a:lnTo>
                  <a:lnTo>
                    <a:pt x="7591425" y="1086739"/>
                  </a:lnTo>
                  <a:lnTo>
                    <a:pt x="7596505" y="1086739"/>
                  </a:lnTo>
                  <a:cubicBezTo>
                    <a:pt x="7596505" y="1140968"/>
                    <a:pt x="7552182" y="1184910"/>
                    <a:pt x="7497572" y="1184910"/>
                  </a:cubicBezTo>
                  <a:lnTo>
                    <a:pt x="7497572" y="1179830"/>
                  </a:lnTo>
                  <a:lnTo>
                    <a:pt x="7497572" y="1184910"/>
                  </a:lnTo>
                  <a:lnTo>
                    <a:pt x="98933" y="1184910"/>
                  </a:lnTo>
                  <a:lnTo>
                    <a:pt x="98933" y="1179830"/>
                  </a:lnTo>
                  <a:lnTo>
                    <a:pt x="98933" y="1184910"/>
                  </a:lnTo>
                  <a:cubicBezTo>
                    <a:pt x="44323" y="1184910"/>
                    <a:pt x="0" y="1140968"/>
                    <a:pt x="0" y="1086739"/>
                  </a:cubicBezTo>
                  <a:lnTo>
                    <a:pt x="0" y="98171"/>
                  </a:lnTo>
                  <a:lnTo>
                    <a:pt x="5080" y="98171"/>
                  </a:lnTo>
                  <a:lnTo>
                    <a:pt x="0" y="98171"/>
                  </a:lnTo>
                  <a:moveTo>
                    <a:pt x="10160" y="98171"/>
                  </a:moveTo>
                  <a:lnTo>
                    <a:pt x="10160" y="1086739"/>
                  </a:lnTo>
                  <a:lnTo>
                    <a:pt x="5080" y="1086739"/>
                  </a:lnTo>
                  <a:lnTo>
                    <a:pt x="10160" y="1086739"/>
                  </a:lnTo>
                  <a:cubicBezTo>
                    <a:pt x="10160" y="1135380"/>
                    <a:pt x="49911" y="1174750"/>
                    <a:pt x="98933" y="1174750"/>
                  </a:cubicBezTo>
                  <a:lnTo>
                    <a:pt x="7497572" y="1174750"/>
                  </a:lnTo>
                  <a:cubicBezTo>
                    <a:pt x="7546594" y="1174750"/>
                    <a:pt x="7586345" y="1135253"/>
                    <a:pt x="7586345" y="1086739"/>
                  </a:cubicBezTo>
                  <a:lnTo>
                    <a:pt x="7586345" y="98171"/>
                  </a:lnTo>
                  <a:cubicBezTo>
                    <a:pt x="7586345" y="49530"/>
                    <a:pt x="7546594" y="10160"/>
                    <a:pt x="7497572" y="10160"/>
                  </a:cubicBezTo>
                  <a:lnTo>
                    <a:pt x="98933" y="10160"/>
                  </a:lnTo>
                  <a:lnTo>
                    <a:pt x="98933" y="5080"/>
                  </a:lnTo>
                  <a:lnTo>
                    <a:pt x="98933" y="10160"/>
                  </a:lnTo>
                  <a:cubicBezTo>
                    <a:pt x="49911" y="10160"/>
                    <a:pt x="10160" y="49657"/>
                    <a:pt x="10160" y="9817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8710915" y="6878727"/>
            <a:ext cx="535127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1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Enhanced Event Logging</a:t>
            </a:r>
          </a:p>
          <a:p>
            <a:pPr>
              <a:lnSpc>
                <a:spcPts val="1999"/>
              </a:lnSpc>
            </a:pPr>
            <a:r>
              <a:rPr lang="en-US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Real-time event tracking instead of static SQL dumps</a:t>
            </a:r>
          </a:p>
          <a:p>
            <a:pPr algn="l">
              <a:lnSpc>
                <a:spcPts val="1999"/>
              </a:lnSpc>
            </a:pPr>
            <a:endParaRPr lang="en-US" b="1" dirty="0">
              <a:solidFill>
                <a:srgbClr val="333F70"/>
              </a:solidFill>
              <a:latin typeface="+mj-lt"/>
              <a:ea typeface="Arimo Bold"/>
              <a:cs typeface="Arimo Bold"/>
              <a:sym typeface="Arimo Bold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720743" y="7981104"/>
            <a:ext cx="5697322" cy="1099871"/>
            <a:chOff x="0" y="0"/>
            <a:chExt cx="7596429" cy="1466494"/>
          </a:xfrm>
        </p:grpSpPr>
        <p:sp>
          <p:nvSpPr>
            <p:cNvPr id="49" name="Freeform 49"/>
            <p:cNvSpPr/>
            <p:nvPr/>
          </p:nvSpPr>
          <p:spPr>
            <a:xfrm>
              <a:off x="5080" y="5080"/>
              <a:ext cx="7586345" cy="1456182"/>
            </a:xfrm>
            <a:custGeom>
              <a:avLst/>
              <a:gdLst/>
              <a:ahLst/>
              <a:cxnLst/>
              <a:rect l="l" t="t" r="r" b="b"/>
              <a:pathLst>
                <a:path w="7586345" h="1456182">
                  <a:moveTo>
                    <a:pt x="0" y="93091"/>
                  </a:moveTo>
                  <a:cubicBezTo>
                    <a:pt x="0" y="41656"/>
                    <a:pt x="41910" y="0"/>
                    <a:pt x="93726" y="0"/>
                  </a:cubicBezTo>
                  <a:lnTo>
                    <a:pt x="7492619" y="0"/>
                  </a:lnTo>
                  <a:cubicBezTo>
                    <a:pt x="7544308" y="0"/>
                    <a:pt x="7586345" y="41656"/>
                    <a:pt x="7586345" y="93091"/>
                  </a:cubicBezTo>
                  <a:lnTo>
                    <a:pt x="7586345" y="1363091"/>
                  </a:lnTo>
                  <a:cubicBezTo>
                    <a:pt x="7586345" y="1414526"/>
                    <a:pt x="7544435" y="1456182"/>
                    <a:pt x="7492619" y="1456182"/>
                  </a:cubicBezTo>
                  <a:lnTo>
                    <a:pt x="93726" y="1456182"/>
                  </a:lnTo>
                  <a:cubicBezTo>
                    <a:pt x="42037" y="1456182"/>
                    <a:pt x="0" y="1414526"/>
                    <a:pt x="0" y="1363091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7596505" cy="1466342"/>
            </a:xfrm>
            <a:custGeom>
              <a:avLst/>
              <a:gdLst/>
              <a:ahLst/>
              <a:cxnLst/>
              <a:rect l="l" t="t" r="r" b="b"/>
              <a:pathLst>
                <a:path w="7596505" h="1466342">
                  <a:moveTo>
                    <a:pt x="0" y="98171"/>
                  </a:moveTo>
                  <a:cubicBezTo>
                    <a:pt x="0" y="43942"/>
                    <a:pt x="44196" y="0"/>
                    <a:pt x="98806" y="0"/>
                  </a:cubicBezTo>
                  <a:lnTo>
                    <a:pt x="7497699" y="0"/>
                  </a:lnTo>
                  <a:lnTo>
                    <a:pt x="7497699" y="5080"/>
                  </a:lnTo>
                  <a:lnTo>
                    <a:pt x="7497699" y="0"/>
                  </a:lnTo>
                  <a:cubicBezTo>
                    <a:pt x="7552182" y="0"/>
                    <a:pt x="7596505" y="43942"/>
                    <a:pt x="7596505" y="98171"/>
                  </a:cubicBezTo>
                  <a:lnTo>
                    <a:pt x="7591425" y="98171"/>
                  </a:lnTo>
                  <a:lnTo>
                    <a:pt x="7596505" y="98171"/>
                  </a:lnTo>
                  <a:lnTo>
                    <a:pt x="7596505" y="1368171"/>
                  </a:lnTo>
                  <a:lnTo>
                    <a:pt x="7591425" y="1368171"/>
                  </a:lnTo>
                  <a:lnTo>
                    <a:pt x="7596505" y="1368171"/>
                  </a:lnTo>
                  <a:cubicBezTo>
                    <a:pt x="7596505" y="1422400"/>
                    <a:pt x="7552309" y="1466342"/>
                    <a:pt x="7497699" y="1466342"/>
                  </a:cubicBezTo>
                  <a:lnTo>
                    <a:pt x="7497699" y="1461262"/>
                  </a:lnTo>
                  <a:lnTo>
                    <a:pt x="7497699" y="1466342"/>
                  </a:lnTo>
                  <a:lnTo>
                    <a:pt x="98806" y="1466342"/>
                  </a:lnTo>
                  <a:lnTo>
                    <a:pt x="98806" y="1461262"/>
                  </a:lnTo>
                  <a:lnTo>
                    <a:pt x="98806" y="1466342"/>
                  </a:lnTo>
                  <a:cubicBezTo>
                    <a:pt x="44323" y="1466342"/>
                    <a:pt x="0" y="1422400"/>
                    <a:pt x="0" y="1368171"/>
                  </a:cubicBezTo>
                  <a:lnTo>
                    <a:pt x="0" y="98171"/>
                  </a:lnTo>
                  <a:lnTo>
                    <a:pt x="5080" y="98171"/>
                  </a:lnTo>
                  <a:lnTo>
                    <a:pt x="0" y="98171"/>
                  </a:lnTo>
                  <a:moveTo>
                    <a:pt x="10160" y="98171"/>
                  </a:moveTo>
                  <a:lnTo>
                    <a:pt x="10160" y="1368171"/>
                  </a:lnTo>
                  <a:lnTo>
                    <a:pt x="5080" y="1368171"/>
                  </a:lnTo>
                  <a:lnTo>
                    <a:pt x="10160" y="1368171"/>
                  </a:lnTo>
                  <a:cubicBezTo>
                    <a:pt x="10160" y="1416812"/>
                    <a:pt x="49784" y="1456182"/>
                    <a:pt x="98806" y="1456182"/>
                  </a:cubicBezTo>
                  <a:lnTo>
                    <a:pt x="7497699" y="1456182"/>
                  </a:lnTo>
                  <a:cubicBezTo>
                    <a:pt x="7546594" y="1456182"/>
                    <a:pt x="7586345" y="1416685"/>
                    <a:pt x="7586345" y="1368171"/>
                  </a:cubicBezTo>
                  <a:lnTo>
                    <a:pt x="7586345" y="98171"/>
                  </a:lnTo>
                  <a:cubicBezTo>
                    <a:pt x="7586345" y="49530"/>
                    <a:pt x="7546721" y="10160"/>
                    <a:pt x="7497699" y="10160"/>
                  </a:cubicBezTo>
                  <a:lnTo>
                    <a:pt x="98806" y="10160"/>
                  </a:lnTo>
                  <a:lnTo>
                    <a:pt x="98806" y="5080"/>
                  </a:lnTo>
                  <a:lnTo>
                    <a:pt x="98806" y="10160"/>
                  </a:lnTo>
                  <a:cubicBezTo>
                    <a:pt x="49784" y="10160"/>
                    <a:pt x="10160" y="49657"/>
                    <a:pt x="10160" y="9817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04111" y="8010247"/>
            <a:ext cx="493948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1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Hashed Customer Identifiers</a:t>
            </a:r>
          </a:p>
          <a:p>
            <a:pPr>
              <a:lnSpc>
                <a:spcPts val="1999"/>
              </a:lnSpc>
            </a:pPr>
            <a:r>
              <a:rPr lang="en-US" dirty="0">
                <a:solidFill>
                  <a:srgbClr val="333F70"/>
                </a:solidFill>
                <a:ea typeface="Arimo Bold"/>
                <a:cs typeface="Arimo Bold"/>
                <a:sym typeface="Arimo Bold"/>
              </a:rPr>
              <a:t>Secure hashed PII for cross-channel tracking with privacy compliance</a:t>
            </a:r>
          </a:p>
          <a:p>
            <a:pPr algn="l">
              <a:lnSpc>
                <a:spcPts val="1999"/>
              </a:lnSpc>
            </a:pPr>
            <a:endParaRPr lang="en-US" b="1" dirty="0">
              <a:solidFill>
                <a:srgbClr val="333F70"/>
              </a:solidFill>
              <a:ea typeface="Arimo Bold"/>
              <a:cs typeface="Arimo Bold"/>
              <a:sym typeface="Arimo Bold"/>
            </a:endParaRPr>
          </a:p>
        </p:txBody>
      </p:sp>
      <p:grpSp>
        <p:nvGrpSpPr>
          <p:cNvPr id="53" name="Group 53"/>
          <p:cNvGrpSpPr/>
          <p:nvPr/>
        </p:nvGrpSpPr>
        <p:grpSpPr>
          <a:xfrm>
            <a:off x="8454839" y="7919452"/>
            <a:ext cx="5697322" cy="1099871"/>
            <a:chOff x="0" y="0"/>
            <a:chExt cx="7596429" cy="1466494"/>
          </a:xfrm>
        </p:grpSpPr>
        <p:sp>
          <p:nvSpPr>
            <p:cNvPr id="54" name="Freeform 54"/>
            <p:cNvSpPr/>
            <p:nvPr/>
          </p:nvSpPr>
          <p:spPr>
            <a:xfrm>
              <a:off x="5080" y="5080"/>
              <a:ext cx="7586345" cy="1456182"/>
            </a:xfrm>
            <a:custGeom>
              <a:avLst/>
              <a:gdLst/>
              <a:ahLst/>
              <a:cxnLst/>
              <a:rect l="l" t="t" r="r" b="b"/>
              <a:pathLst>
                <a:path w="7586345" h="1456182">
                  <a:moveTo>
                    <a:pt x="0" y="93091"/>
                  </a:moveTo>
                  <a:cubicBezTo>
                    <a:pt x="0" y="41656"/>
                    <a:pt x="41910" y="0"/>
                    <a:pt x="93726" y="0"/>
                  </a:cubicBezTo>
                  <a:lnTo>
                    <a:pt x="7492619" y="0"/>
                  </a:lnTo>
                  <a:cubicBezTo>
                    <a:pt x="7544308" y="0"/>
                    <a:pt x="7586345" y="41656"/>
                    <a:pt x="7586345" y="93091"/>
                  </a:cubicBezTo>
                  <a:lnTo>
                    <a:pt x="7586345" y="1363091"/>
                  </a:lnTo>
                  <a:cubicBezTo>
                    <a:pt x="7586345" y="1414526"/>
                    <a:pt x="7544435" y="1456182"/>
                    <a:pt x="7492619" y="1456182"/>
                  </a:cubicBezTo>
                  <a:lnTo>
                    <a:pt x="93726" y="1456182"/>
                  </a:lnTo>
                  <a:cubicBezTo>
                    <a:pt x="42037" y="1456182"/>
                    <a:pt x="0" y="1414526"/>
                    <a:pt x="0" y="1363091"/>
                  </a:cubicBez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7596505" cy="1466342"/>
            </a:xfrm>
            <a:custGeom>
              <a:avLst/>
              <a:gdLst/>
              <a:ahLst/>
              <a:cxnLst/>
              <a:rect l="l" t="t" r="r" b="b"/>
              <a:pathLst>
                <a:path w="7596505" h="1466342">
                  <a:moveTo>
                    <a:pt x="0" y="98171"/>
                  </a:moveTo>
                  <a:cubicBezTo>
                    <a:pt x="0" y="43942"/>
                    <a:pt x="44196" y="0"/>
                    <a:pt x="98806" y="0"/>
                  </a:cubicBezTo>
                  <a:lnTo>
                    <a:pt x="7497699" y="0"/>
                  </a:lnTo>
                  <a:lnTo>
                    <a:pt x="7497699" y="5080"/>
                  </a:lnTo>
                  <a:lnTo>
                    <a:pt x="7497699" y="0"/>
                  </a:lnTo>
                  <a:cubicBezTo>
                    <a:pt x="7552182" y="0"/>
                    <a:pt x="7596505" y="43942"/>
                    <a:pt x="7596505" y="98171"/>
                  </a:cubicBezTo>
                  <a:lnTo>
                    <a:pt x="7591425" y="98171"/>
                  </a:lnTo>
                  <a:lnTo>
                    <a:pt x="7596505" y="98171"/>
                  </a:lnTo>
                  <a:lnTo>
                    <a:pt x="7596505" y="1368171"/>
                  </a:lnTo>
                  <a:lnTo>
                    <a:pt x="7591425" y="1368171"/>
                  </a:lnTo>
                  <a:lnTo>
                    <a:pt x="7596505" y="1368171"/>
                  </a:lnTo>
                  <a:cubicBezTo>
                    <a:pt x="7596505" y="1422400"/>
                    <a:pt x="7552309" y="1466342"/>
                    <a:pt x="7497699" y="1466342"/>
                  </a:cubicBezTo>
                  <a:lnTo>
                    <a:pt x="7497699" y="1461262"/>
                  </a:lnTo>
                  <a:lnTo>
                    <a:pt x="7497699" y="1466342"/>
                  </a:lnTo>
                  <a:lnTo>
                    <a:pt x="98806" y="1466342"/>
                  </a:lnTo>
                  <a:lnTo>
                    <a:pt x="98806" y="1461262"/>
                  </a:lnTo>
                  <a:lnTo>
                    <a:pt x="98806" y="1466342"/>
                  </a:lnTo>
                  <a:cubicBezTo>
                    <a:pt x="44323" y="1466342"/>
                    <a:pt x="0" y="1422400"/>
                    <a:pt x="0" y="1368171"/>
                  </a:cubicBezTo>
                  <a:lnTo>
                    <a:pt x="0" y="98171"/>
                  </a:lnTo>
                  <a:lnTo>
                    <a:pt x="5080" y="98171"/>
                  </a:lnTo>
                  <a:lnTo>
                    <a:pt x="0" y="98171"/>
                  </a:lnTo>
                  <a:moveTo>
                    <a:pt x="10160" y="98171"/>
                  </a:moveTo>
                  <a:lnTo>
                    <a:pt x="10160" y="1368171"/>
                  </a:lnTo>
                  <a:lnTo>
                    <a:pt x="5080" y="1368171"/>
                  </a:lnTo>
                  <a:lnTo>
                    <a:pt x="10160" y="1368171"/>
                  </a:lnTo>
                  <a:cubicBezTo>
                    <a:pt x="10160" y="1416812"/>
                    <a:pt x="49784" y="1456182"/>
                    <a:pt x="98806" y="1456182"/>
                  </a:cubicBezTo>
                  <a:lnTo>
                    <a:pt x="7497699" y="1456182"/>
                  </a:lnTo>
                  <a:cubicBezTo>
                    <a:pt x="7546594" y="1456182"/>
                    <a:pt x="7586345" y="1416685"/>
                    <a:pt x="7586345" y="1368171"/>
                  </a:cubicBezTo>
                  <a:lnTo>
                    <a:pt x="7586345" y="98171"/>
                  </a:lnTo>
                  <a:cubicBezTo>
                    <a:pt x="7586345" y="49530"/>
                    <a:pt x="7546721" y="10160"/>
                    <a:pt x="7497699" y="10160"/>
                  </a:cubicBezTo>
                  <a:lnTo>
                    <a:pt x="98806" y="10160"/>
                  </a:lnTo>
                  <a:lnTo>
                    <a:pt x="98806" y="5080"/>
                  </a:lnTo>
                  <a:lnTo>
                    <a:pt x="98806" y="10160"/>
                  </a:lnTo>
                  <a:cubicBezTo>
                    <a:pt x="49784" y="10160"/>
                    <a:pt x="10160" y="49657"/>
                    <a:pt x="10160" y="98171"/>
                  </a:cubicBezTo>
                  <a:close/>
                </a:path>
              </a:pathLst>
            </a:custGeom>
            <a:solidFill>
              <a:srgbClr val="BCDBD4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634414" y="8028565"/>
            <a:ext cx="5338172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1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Multi-Source Integration</a:t>
            </a:r>
          </a:p>
          <a:p>
            <a:pPr>
              <a:lnSpc>
                <a:spcPts val="1999"/>
              </a:lnSpc>
            </a:pPr>
            <a:r>
              <a:rPr lang="en-US" dirty="0">
                <a:solidFill>
                  <a:srgbClr val="333F70"/>
                </a:solidFill>
                <a:latin typeface="+mj-lt"/>
                <a:ea typeface="Arimo Bold"/>
                <a:cs typeface="Arimo Bold"/>
                <a:sym typeface="Arimo Bold"/>
              </a:rPr>
              <a:t>Merge transactional data with web traffic and marketing spend for holistic ROI view</a:t>
            </a:r>
          </a:p>
          <a:p>
            <a:pPr algn="l">
              <a:lnSpc>
                <a:spcPts val="1999"/>
              </a:lnSpc>
            </a:pPr>
            <a:endParaRPr lang="en-US" b="1" dirty="0">
              <a:solidFill>
                <a:srgbClr val="333F70"/>
              </a:solidFill>
              <a:latin typeface="+mj-lt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2557</TotalTime>
  <Words>2534</Words>
  <Application>Microsoft Office PowerPoint</Application>
  <PresentationFormat>Custom</PresentationFormat>
  <Paragraphs>309</Paragraphs>
  <Slides>13</Slides>
  <Notes>12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Open Sans Bold</vt:lpstr>
      <vt:lpstr>Arimo Bold</vt:lpstr>
      <vt:lpstr>Arial</vt:lpstr>
      <vt:lpstr>Calibri</vt:lpstr>
      <vt:lpstr>Aptos ExtraBold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Data-Driven-Growth-Bridging-the-Gap-for-London-Gift-Shop-1.pptx</dc:title>
  <cp:lastModifiedBy>Sumiksh Trehan</cp:lastModifiedBy>
  <cp:revision>42</cp:revision>
  <dcterms:created xsi:type="dcterms:W3CDTF">2006-08-16T00:00:00Z</dcterms:created>
  <dcterms:modified xsi:type="dcterms:W3CDTF">2026-02-22T14:27:12Z</dcterms:modified>
  <dc:identifier>DAHAy-Fl75Y</dc:identifier>
</cp:coreProperties>
</file>